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MeLearn is machine learning that learns how to improve itself. With one command, it ran thirty experiments, beat the required KuaiRand baseline, cost three dollars and sixty-five cents, and required zero human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research is an iterative loop: form a hypothesis, write the code, train, evaluate, and decide what comes next. Here, the agent had to rank watch completion, beat the official factorization-machine baseline by point zero zero two, and stay inside fifty experiments and six hours. Because seed noise can consume most of that margin, a single promising score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MeLearn with one command. It reads every previous experiment from the ledger, then uses tree search to select a promising parent. It states a hypothesis, writes a complete Python solution, and hands that code to the harness. The harness evaluates three seeds and returns only the validation result. MeLearn records the score, keeps or rejects the idea, and starts again. This footage compresses hours into seconds; after twenty-seven experiments, the highlighted branch produced the winning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Autonomy is only useful if the evaluation is trustworthy. The ledger is persistent memory, and UCT lets MeLearn revisit older branches instead of endlessly refining its latest idea. The harness—not the model—owns the data, official evaluator, seed policy, and time limits. Test labels are never visible, invalid or duplicate solutions are rejected, and failures return as text so the agent can diagnose and recover on its next turn.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required KuaiRand-Pure dataset, the official baseline scored point six zero one six. MeLearn reached point six zero five four nine three: a gain of point zero zero three nine four four, almost twice the required margin. On the bonus one-thousand-user dataset, it improved the primary score by point zero three seven eight nine four. The record run used thirty of fifty experiments, two point four six million tokens, three dollars and sixty-five cents, no GPUs, and no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largest result also revealed the central insight. In Pure, only three point three eight percent of validation rows contain a user-creator pair seen during training. In one-K, that overlap is thirty-three point seven percent—about ten times larger. The performance gain grows by almost the same factor. MeLearn did not just find a better model. It discovered where the dataset's learnable signal lives: an autonomous researcher that measures, learns, and recovers.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 y="0"/>
            <a:ext cx="32004" cy="2468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5303520" cy="274320"/>
          </a:xfrm>
          <a:prstGeom prst="rect">
            <a:avLst/>
          </a:prstGeom>
          <a:noFill/>
        </p:spPr>
        <p:txBody>
          <a:bodyPr wrap="none" lIns="0" rIns="0" tIns="0" bIns="0" anchor="t">
            <a:spAutoFit/>
          </a:bodyPr>
          <a:lstStyle/>
          <a:p>
            <a:pPr algn="l">
              <a:lnSpc>
                <a:spcPct val="100000"/>
              </a:lnSpc>
            </a:pPr>
            <a:r>
              <a:rPr sz="1000" b="1">
                <a:solidFill>
                  <a:srgbClr val="FBBF24"/>
                </a:solidFill>
                <a:latin typeface="Aptos"/>
              </a:rPr>
              <a:t>AUTONOMOUS RECOMMENDER RESEARCH</a:t>
            </a:r>
          </a:p>
        </p:txBody>
      </p:sp>
      <p:sp>
        <p:nvSpPr>
          <p:cNvPr id="5" name="TextBox 4"/>
          <p:cNvSpPr txBox="1"/>
          <p:nvPr/>
        </p:nvSpPr>
        <p:spPr>
          <a:xfrm>
            <a:off x="621792" y="932688"/>
            <a:ext cx="5943600" cy="786384"/>
          </a:xfrm>
          <a:prstGeom prst="rect">
            <a:avLst/>
          </a:prstGeom>
          <a:noFill/>
        </p:spPr>
        <p:txBody>
          <a:bodyPr wrap="none" lIns="0" rIns="0" tIns="0" bIns="0" anchor="t">
            <a:spAutoFit/>
          </a:bodyPr>
          <a:lstStyle/>
          <a:p>
            <a:pPr algn="l"/>
            <a:r>
              <a:rPr sz="4800" b="1">
                <a:solidFill>
                  <a:srgbClr val="3B82F6"/>
                </a:solidFill>
                <a:latin typeface="Aptos Display"/>
              </a:rPr>
              <a:t>M</a:t>
            </a:r>
            <a:r>
              <a:rPr sz="4800" b="1">
                <a:solidFill>
                  <a:srgbClr val="FBBF24"/>
                </a:solidFill>
                <a:latin typeface="Aptos Display"/>
              </a:rPr>
              <a:t>e</a:t>
            </a:r>
            <a:r>
              <a:rPr sz="4800" b="1">
                <a:solidFill>
                  <a:srgbClr val="3B82F6"/>
                </a:solidFill>
                <a:latin typeface="Aptos Display"/>
              </a:rPr>
              <a:t>L</a:t>
            </a:r>
            <a:r>
              <a:rPr sz="4800" b="1">
                <a:solidFill>
                  <a:srgbClr val="FBBF24"/>
                </a:solidFill>
                <a:latin typeface="Aptos Display"/>
              </a:rPr>
              <a:t>earn</a:t>
            </a:r>
          </a:p>
        </p:txBody>
      </p:sp>
      <p:sp>
        <p:nvSpPr>
          <p:cNvPr id="6" name="TextBox 5"/>
          <p:cNvSpPr txBox="1"/>
          <p:nvPr/>
        </p:nvSpPr>
        <p:spPr>
          <a:xfrm>
            <a:off x="640080" y="1847088"/>
            <a:ext cx="6035040" cy="1170432"/>
          </a:xfrm>
          <a:prstGeom prst="rect">
            <a:avLst/>
          </a:prstGeom>
          <a:noFill/>
        </p:spPr>
        <p:txBody>
          <a:bodyPr wrap="none" lIns="0" rIns="0" tIns="0" bIns="0" anchor="t">
            <a:spAutoFit/>
          </a:bodyPr>
          <a:lstStyle/>
          <a:p>
            <a:pPr algn="l">
              <a:lnSpc>
                <a:spcPct val="90000"/>
              </a:lnSpc>
            </a:pPr>
            <a:r>
              <a:rPr sz="2700" b="1">
                <a:solidFill>
                  <a:srgbClr val="F8FAFC"/>
                </a:solidFill>
                <a:latin typeface="Aptos Display"/>
              </a:rPr>
              <a:t>Machine learning that learns</a:t>
            </a:r>
            <a:br/>
            <a:r>
              <a:rPr sz="2700" b="1">
                <a:solidFill>
                  <a:srgbClr val="F8FAFC"/>
                </a:solidFill>
                <a:latin typeface="Aptos Display"/>
              </a:rPr>
              <a:t>how to improve itself.</a:t>
            </a:r>
          </a:p>
        </p:txBody>
      </p:sp>
      <p:sp>
        <p:nvSpPr>
          <p:cNvPr id="7" name="TextBox 6"/>
          <p:cNvSpPr txBox="1"/>
          <p:nvPr/>
        </p:nvSpPr>
        <p:spPr>
          <a:xfrm>
            <a:off x="658368" y="3182112"/>
            <a:ext cx="5806440" cy="685800"/>
          </a:xfrm>
          <a:prstGeom prst="rect">
            <a:avLst/>
          </a:prstGeom>
          <a:noFill/>
        </p:spPr>
        <p:txBody>
          <a:bodyPr wrap="none" lIns="0" rIns="0" tIns="0" bIns="0" anchor="t">
            <a:spAutoFit/>
          </a:bodyPr>
          <a:lstStyle/>
          <a:p>
            <a:pPr algn="l">
              <a:lnSpc>
                <a:spcPct val="105000"/>
              </a:lnSpc>
            </a:pPr>
            <a:r>
              <a:rPr sz="1300" b="0">
                <a:solidFill>
                  <a:srgbClr val="A9B8C9"/>
                </a:solidFill>
                <a:latin typeface="Aptos"/>
              </a:rPr>
              <a:t>An autonomous agent that writes, evaluates, and improves</a:t>
            </a:r>
            <a:br/>
            <a:r>
              <a:rPr sz="1300" b="0">
                <a:solidFill>
                  <a:srgbClr val="A9B8C9"/>
                </a:solidFill>
                <a:latin typeface="Aptos"/>
              </a:rPr>
              <a:t>recommendation models—without a human in the loop.</a:t>
            </a:r>
          </a:p>
        </p:txBody>
      </p:sp>
      <p:sp>
        <p:nvSpPr>
          <p:cNvPr id="8" name="Rounded Rectangle 7"/>
          <p:cNvSpPr/>
          <p:nvPr/>
        </p:nvSpPr>
        <p:spPr>
          <a:xfrm>
            <a:off x="7315200" y="658368"/>
            <a:ext cx="4224528" cy="3858768"/>
          </a:xfrm>
          <a:prstGeom prst="roundRect">
            <a:avLst/>
          </a:prstGeom>
          <a:solidFill>
            <a:srgbClr val="102A46"/>
          </a:solidFill>
          <a:ln w="1524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635240" y="950976"/>
            <a:ext cx="1755648"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960120"/>
            <a:ext cx="1755648" cy="256032"/>
          </a:xfrm>
          <a:prstGeom prst="rect">
            <a:avLst/>
          </a:prstGeom>
          <a:noFill/>
        </p:spPr>
        <p:txBody>
          <a:bodyPr wrap="none" lIns="0" rIns="0" tIns="0" bIns="0" anchor="ctr">
            <a:spAutoFit/>
          </a:bodyPr>
          <a:lstStyle/>
          <a:p>
            <a:pPr algn="ctr">
              <a:lnSpc>
                <a:spcPct val="100000"/>
              </a:lnSpc>
            </a:pPr>
            <a:r>
              <a:rPr sz="1000" b="1">
                <a:solidFill>
                  <a:srgbClr val="A9B8C9"/>
                </a:solidFill>
                <a:latin typeface="Aptos"/>
              </a:rPr>
              <a:t>KUAIRAND · REQUIRED</a:t>
            </a:r>
          </a:p>
        </p:txBody>
      </p:sp>
      <p:sp>
        <p:nvSpPr>
          <p:cNvPr id="11" name="TextBox 10"/>
          <p:cNvSpPr txBox="1"/>
          <p:nvPr/>
        </p:nvSpPr>
        <p:spPr>
          <a:xfrm>
            <a:off x="7635240" y="1554480"/>
            <a:ext cx="3611880" cy="694944"/>
          </a:xfrm>
          <a:prstGeom prst="rect">
            <a:avLst/>
          </a:prstGeom>
          <a:noFill/>
        </p:spPr>
        <p:txBody>
          <a:bodyPr wrap="none" lIns="0" rIns="0" tIns="0" bIns="0" anchor="t">
            <a:spAutoFit/>
          </a:bodyPr>
          <a:lstStyle/>
          <a:p>
            <a:pPr algn="l">
              <a:lnSpc>
                <a:spcPct val="100000"/>
              </a:lnSpc>
            </a:pPr>
            <a:r>
              <a:rPr sz="3500" b="1">
                <a:solidFill>
                  <a:srgbClr val="FBBF24"/>
                </a:solidFill>
                <a:latin typeface="Aptos Display"/>
              </a:rPr>
              <a:t>+0.003944</a:t>
            </a:r>
          </a:p>
        </p:txBody>
      </p:sp>
      <p:sp>
        <p:nvSpPr>
          <p:cNvPr id="12" name="TextBox 11"/>
          <p:cNvSpPr txBox="1"/>
          <p:nvPr/>
        </p:nvSpPr>
        <p:spPr>
          <a:xfrm>
            <a:off x="7653527" y="2231136"/>
            <a:ext cx="3154680" cy="228600"/>
          </a:xfrm>
          <a:prstGeom prst="rect">
            <a:avLst/>
          </a:prstGeom>
          <a:noFill/>
        </p:spPr>
        <p:txBody>
          <a:bodyPr wrap="none" lIns="0" rIns="0" tIns="0" bIns="0" anchor="t">
            <a:spAutoFit/>
          </a:bodyPr>
          <a:lstStyle/>
          <a:p>
            <a:pPr algn="l">
              <a:lnSpc>
                <a:spcPct val="100000"/>
              </a:lnSpc>
            </a:pPr>
            <a:r>
              <a:rPr sz="900" b="1">
                <a:solidFill>
                  <a:srgbClr val="A9B8C9"/>
                </a:solidFill>
                <a:latin typeface="Aptos"/>
              </a:rPr>
              <a:t>PRIMARY SCORE GAIN</a:t>
            </a:r>
          </a:p>
        </p:txBody>
      </p:sp>
      <p:sp>
        <p:nvSpPr>
          <p:cNvPr id="13" name="Rounded Rectangle 12"/>
          <p:cNvSpPr/>
          <p:nvPr/>
        </p:nvSpPr>
        <p:spPr>
          <a:xfrm>
            <a:off x="7653527" y="2779776"/>
            <a:ext cx="3401568" cy="11887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53527" y="2779776"/>
            <a:ext cx="2980944" cy="118872"/>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62288" y="2624328"/>
            <a:ext cx="32004" cy="42976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0224" y="3127248"/>
            <a:ext cx="1078992" cy="201168"/>
          </a:xfrm>
          <a:prstGeom prst="rect">
            <a:avLst/>
          </a:prstGeom>
          <a:noFill/>
        </p:spPr>
        <p:txBody>
          <a:bodyPr wrap="none" lIns="0" rIns="0" tIns="0" bIns="0" anchor="t">
            <a:spAutoFit/>
          </a:bodyPr>
          <a:lstStyle/>
          <a:p>
            <a:pPr algn="ctr">
              <a:lnSpc>
                <a:spcPct val="100000"/>
              </a:lnSpc>
            </a:pPr>
            <a:r>
              <a:rPr sz="800" b="1">
                <a:solidFill>
                  <a:srgbClr val="FBBF24"/>
                </a:solidFill>
                <a:latin typeface="Aptos"/>
              </a:rPr>
              <a:t>target +0.002</a:t>
            </a:r>
          </a:p>
        </p:txBody>
      </p:sp>
      <p:sp>
        <p:nvSpPr>
          <p:cNvPr id="17" name="TextBox 16"/>
          <p:cNvSpPr txBox="1"/>
          <p:nvPr/>
        </p:nvSpPr>
        <p:spPr>
          <a:xfrm>
            <a:off x="7653527" y="3584448"/>
            <a:ext cx="3401568" cy="530352"/>
          </a:xfrm>
          <a:prstGeom prst="rect">
            <a:avLst/>
          </a:prstGeom>
          <a:noFill/>
        </p:spPr>
        <p:txBody>
          <a:bodyPr wrap="none" lIns="0" rIns="0" tIns="0" bIns="0" anchor="t">
            <a:spAutoFit/>
          </a:bodyPr>
          <a:lstStyle/>
          <a:p>
            <a:pPr algn="l">
              <a:lnSpc>
                <a:spcPct val="100000"/>
              </a:lnSpc>
            </a:pPr>
            <a:r>
              <a:rPr sz="1100" b="0">
                <a:solidFill>
                  <a:srgbClr val="F8FAFC"/>
                </a:solidFill>
                <a:latin typeface="Aptos"/>
              </a:rPr>
              <a:t>MeLearn cleared the required margin</a:t>
            </a:r>
            <a:br/>
            <a:r>
              <a:rPr sz="1100" b="0">
                <a:solidFill>
                  <a:srgbClr val="F8FAFC"/>
                </a:solidFill>
                <a:latin typeface="Aptos"/>
              </a:rPr>
              <a:t>on validation—using the official evaluator.</a:t>
            </a:r>
          </a:p>
        </p:txBody>
      </p:sp>
      <p:sp>
        <p:nvSpPr>
          <p:cNvPr id="18" name="Rounded Rectangle 17"/>
          <p:cNvSpPr/>
          <p:nvPr/>
        </p:nvSpPr>
        <p:spPr>
          <a:xfrm>
            <a:off x="640080" y="4892040"/>
            <a:ext cx="2395728"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5038344"/>
            <a:ext cx="2066544" cy="182880"/>
          </a:xfrm>
          <a:prstGeom prst="rect">
            <a:avLst/>
          </a:prstGeom>
          <a:noFill/>
        </p:spPr>
        <p:txBody>
          <a:bodyPr wrap="none" lIns="0" rIns="0" tIns="0" bIns="0" anchor="t">
            <a:spAutoFit/>
          </a:bodyPr>
          <a:lstStyle/>
          <a:p>
            <a:pPr algn="l">
              <a:lnSpc>
                <a:spcPct val="100000"/>
              </a:lnSpc>
            </a:pPr>
            <a:r>
              <a:rPr sz="850" b="1">
                <a:solidFill>
                  <a:srgbClr val="A9B8C9"/>
                </a:solidFill>
                <a:latin typeface="Aptos"/>
              </a:rPr>
              <a:t>EXPERIMENTS</a:t>
            </a:r>
          </a:p>
        </p:txBody>
      </p:sp>
      <p:sp>
        <p:nvSpPr>
          <p:cNvPr id="20" name="TextBox 19"/>
          <p:cNvSpPr txBox="1"/>
          <p:nvPr/>
        </p:nvSpPr>
        <p:spPr>
          <a:xfrm>
            <a:off x="804671" y="5257800"/>
            <a:ext cx="2066544" cy="329184"/>
          </a:xfrm>
          <a:prstGeom prst="rect">
            <a:avLst/>
          </a:prstGeom>
          <a:noFill/>
        </p:spPr>
        <p:txBody>
          <a:bodyPr wrap="none" lIns="0" rIns="0" tIns="0" bIns="0" anchor="t">
            <a:spAutoFit/>
          </a:bodyPr>
          <a:lstStyle/>
          <a:p>
            <a:pPr algn="l">
              <a:lnSpc>
                <a:spcPct val="100000"/>
              </a:lnSpc>
            </a:pPr>
            <a:r>
              <a:rPr sz="2000" b="1">
                <a:solidFill>
                  <a:srgbClr val="3B82F6"/>
                </a:solidFill>
                <a:latin typeface="Aptos Display"/>
              </a:rPr>
              <a:t>30</a:t>
            </a:r>
          </a:p>
        </p:txBody>
      </p:sp>
      <p:sp>
        <p:nvSpPr>
          <p:cNvPr id="21" name="TextBox 20"/>
          <p:cNvSpPr txBox="1"/>
          <p:nvPr/>
        </p:nvSpPr>
        <p:spPr>
          <a:xfrm>
            <a:off x="804671" y="5596127"/>
            <a:ext cx="2066544" cy="155448"/>
          </a:xfrm>
          <a:prstGeom prst="rect">
            <a:avLst/>
          </a:prstGeom>
          <a:noFill/>
        </p:spPr>
        <p:txBody>
          <a:bodyPr wrap="none" lIns="0" rIns="0" tIns="0" bIns="0" anchor="t">
            <a:spAutoFit/>
          </a:bodyPr>
          <a:lstStyle/>
          <a:p>
            <a:pPr algn="l">
              <a:lnSpc>
                <a:spcPct val="100000"/>
              </a:lnSpc>
            </a:pPr>
            <a:r>
              <a:rPr sz="800" b="0">
                <a:solidFill>
                  <a:srgbClr val="6F86A0"/>
                </a:solidFill>
                <a:latin typeface="Aptos"/>
              </a:rPr>
              <a:t>of a 50-experiment cap</a:t>
            </a:r>
          </a:p>
        </p:txBody>
      </p:sp>
      <p:sp>
        <p:nvSpPr>
          <p:cNvPr id="22" name="Rounded Rectangle 21"/>
          <p:cNvSpPr/>
          <p:nvPr/>
        </p:nvSpPr>
        <p:spPr>
          <a:xfrm>
            <a:off x="3218688" y="4892040"/>
            <a:ext cx="2395728"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5038344"/>
            <a:ext cx="2066544" cy="182880"/>
          </a:xfrm>
          <a:prstGeom prst="rect">
            <a:avLst/>
          </a:prstGeom>
          <a:noFill/>
        </p:spPr>
        <p:txBody>
          <a:bodyPr wrap="none" lIns="0" rIns="0" tIns="0" bIns="0" anchor="t">
            <a:spAutoFit/>
          </a:bodyPr>
          <a:lstStyle/>
          <a:p>
            <a:pPr algn="l">
              <a:lnSpc>
                <a:spcPct val="100000"/>
              </a:lnSpc>
            </a:pPr>
            <a:r>
              <a:rPr sz="850" b="1">
                <a:solidFill>
                  <a:srgbClr val="A9B8C9"/>
                </a:solidFill>
                <a:latin typeface="Aptos"/>
              </a:rPr>
              <a:t>TOTAL COST</a:t>
            </a:r>
          </a:p>
        </p:txBody>
      </p:sp>
      <p:sp>
        <p:nvSpPr>
          <p:cNvPr id="24" name="TextBox 23"/>
          <p:cNvSpPr txBox="1"/>
          <p:nvPr/>
        </p:nvSpPr>
        <p:spPr>
          <a:xfrm>
            <a:off x="3383280" y="5257800"/>
            <a:ext cx="2066544" cy="329184"/>
          </a:xfrm>
          <a:prstGeom prst="rect">
            <a:avLst/>
          </a:prstGeom>
          <a:noFill/>
        </p:spPr>
        <p:txBody>
          <a:bodyPr wrap="none" lIns="0" rIns="0" tIns="0" bIns="0" anchor="t">
            <a:spAutoFit/>
          </a:bodyPr>
          <a:lstStyle/>
          <a:p>
            <a:pPr algn="l">
              <a:lnSpc>
                <a:spcPct val="100000"/>
              </a:lnSpc>
            </a:pPr>
            <a:r>
              <a:rPr sz="2000" b="1">
                <a:solidFill>
                  <a:srgbClr val="FBBF24"/>
                </a:solidFill>
                <a:latin typeface="Aptos Display"/>
              </a:rPr>
              <a:t>$3.65</a:t>
            </a:r>
          </a:p>
        </p:txBody>
      </p:sp>
      <p:sp>
        <p:nvSpPr>
          <p:cNvPr id="25" name="TextBox 24"/>
          <p:cNvSpPr txBox="1"/>
          <p:nvPr/>
        </p:nvSpPr>
        <p:spPr>
          <a:xfrm>
            <a:off x="3383280" y="5596127"/>
            <a:ext cx="2066544" cy="155448"/>
          </a:xfrm>
          <a:prstGeom prst="rect">
            <a:avLst/>
          </a:prstGeom>
          <a:noFill/>
        </p:spPr>
        <p:txBody>
          <a:bodyPr wrap="none" lIns="0" rIns="0" tIns="0" bIns="0" anchor="t">
            <a:spAutoFit/>
          </a:bodyPr>
          <a:lstStyle/>
          <a:p>
            <a:pPr algn="l">
              <a:lnSpc>
                <a:spcPct val="100000"/>
              </a:lnSpc>
            </a:pPr>
            <a:r>
              <a:rPr sz="800" b="0">
                <a:solidFill>
                  <a:srgbClr val="6F86A0"/>
                </a:solidFill>
                <a:latin typeface="Aptos"/>
              </a:rPr>
              <a:t>2.46M model tokens</a:t>
            </a:r>
          </a:p>
        </p:txBody>
      </p:sp>
      <p:sp>
        <p:nvSpPr>
          <p:cNvPr id="26" name="Rounded Rectangle 25"/>
          <p:cNvSpPr/>
          <p:nvPr/>
        </p:nvSpPr>
        <p:spPr>
          <a:xfrm>
            <a:off x="5797296" y="4892040"/>
            <a:ext cx="2395728"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61888" y="5038344"/>
            <a:ext cx="2066544" cy="182880"/>
          </a:xfrm>
          <a:prstGeom prst="rect">
            <a:avLst/>
          </a:prstGeom>
          <a:noFill/>
        </p:spPr>
        <p:txBody>
          <a:bodyPr wrap="none" lIns="0" rIns="0" tIns="0" bIns="0" anchor="t">
            <a:spAutoFit/>
          </a:bodyPr>
          <a:lstStyle/>
          <a:p>
            <a:pPr algn="l">
              <a:lnSpc>
                <a:spcPct val="100000"/>
              </a:lnSpc>
            </a:pPr>
            <a:r>
              <a:rPr sz="850" b="1">
                <a:solidFill>
                  <a:srgbClr val="A9B8C9"/>
                </a:solidFill>
                <a:latin typeface="Aptos"/>
              </a:rPr>
              <a:t>HUMAN INTERVENTIONS</a:t>
            </a:r>
          </a:p>
        </p:txBody>
      </p:sp>
      <p:sp>
        <p:nvSpPr>
          <p:cNvPr id="28" name="TextBox 27"/>
          <p:cNvSpPr txBox="1"/>
          <p:nvPr/>
        </p:nvSpPr>
        <p:spPr>
          <a:xfrm>
            <a:off x="5961888" y="5257800"/>
            <a:ext cx="2066544" cy="329184"/>
          </a:xfrm>
          <a:prstGeom prst="rect">
            <a:avLst/>
          </a:prstGeom>
          <a:noFill/>
        </p:spPr>
        <p:txBody>
          <a:bodyPr wrap="none" lIns="0" rIns="0" tIns="0" bIns="0" anchor="t">
            <a:spAutoFit/>
          </a:bodyPr>
          <a:lstStyle/>
          <a:p>
            <a:pPr algn="l">
              <a:lnSpc>
                <a:spcPct val="100000"/>
              </a:lnSpc>
            </a:pPr>
            <a:r>
              <a:rPr sz="2000" b="1">
                <a:solidFill>
                  <a:srgbClr val="34D399"/>
                </a:solidFill>
                <a:latin typeface="Aptos Display"/>
              </a:rPr>
              <a:t>0</a:t>
            </a:r>
          </a:p>
        </p:txBody>
      </p:sp>
      <p:sp>
        <p:nvSpPr>
          <p:cNvPr id="29" name="TextBox 28"/>
          <p:cNvSpPr txBox="1"/>
          <p:nvPr/>
        </p:nvSpPr>
        <p:spPr>
          <a:xfrm>
            <a:off x="5961888" y="5596127"/>
            <a:ext cx="2066544" cy="155448"/>
          </a:xfrm>
          <a:prstGeom prst="rect">
            <a:avLst/>
          </a:prstGeom>
          <a:noFill/>
        </p:spPr>
        <p:txBody>
          <a:bodyPr wrap="none" lIns="0" rIns="0" tIns="0" bIns="0" anchor="t">
            <a:spAutoFit/>
          </a:bodyPr>
          <a:lstStyle/>
          <a:p>
            <a:pPr algn="l">
              <a:lnSpc>
                <a:spcPct val="100000"/>
              </a:lnSpc>
            </a:pPr>
            <a:r>
              <a:rPr sz="800" b="0">
                <a:solidFill>
                  <a:srgbClr val="6F86A0"/>
                </a:solidFill>
                <a:latin typeface="Aptos"/>
              </a:rPr>
              <a:t>after the run started</a:t>
            </a:r>
          </a:p>
        </p:txBody>
      </p:sp>
      <p:sp>
        <p:nvSpPr>
          <p:cNvPr id="30" name="Rounded Rectangle 29"/>
          <p:cNvSpPr/>
          <p:nvPr/>
        </p:nvSpPr>
        <p:spPr>
          <a:xfrm>
            <a:off x="8375904" y="4892040"/>
            <a:ext cx="3163824"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0496" y="5038344"/>
            <a:ext cx="2834640" cy="182880"/>
          </a:xfrm>
          <a:prstGeom prst="rect">
            <a:avLst/>
          </a:prstGeom>
          <a:noFill/>
        </p:spPr>
        <p:txBody>
          <a:bodyPr wrap="none" lIns="0" rIns="0" tIns="0" bIns="0" anchor="t">
            <a:spAutoFit/>
          </a:bodyPr>
          <a:lstStyle/>
          <a:p>
            <a:pPr algn="l">
              <a:lnSpc>
                <a:spcPct val="100000"/>
              </a:lnSpc>
            </a:pPr>
            <a:r>
              <a:rPr sz="850" b="1">
                <a:solidFill>
                  <a:srgbClr val="A9B8C9"/>
                </a:solidFill>
                <a:latin typeface="Aptos"/>
              </a:rPr>
              <a:t>GPU-HOURS</a:t>
            </a:r>
          </a:p>
        </p:txBody>
      </p:sp>
      <p:sp>
        <p:nvSpPr>
          <p:cNvPr id="32" name="TextBox 31"/>
          <p:cNvSpPr txBox="1"/>
          <p:nvPr/>
        </p:nvSpPr>
        <p:spPr>
          <a:xfrm>
            <a:off x="8540496" y="5257800"/>
            <a:ext cx="2834640" cy="329184"/>
          </a:xfrm>
          <a:prstGeom prst="rect">
            <a:avLst/>
          </a:prstGeom>
          <a:noFill/>
        </p:spPr>
        <p:txBody>
          <a:bodyPr wrap="none" lIns="0" rIns="0" tIns="0" bIns="0" anchor="t">
            <a:spAutoFit/>
          </a:bodyPr>
          <a:lstStyle/>
          <a:p>
            <a:pPr algn="l">
              <a:lnSpc>
                <a:spcPct val="100000"/>
              </a:lnSpc>
            </a:pPr>
            <a:r>
              <a:rPr sz="2000" b="1">
                <a:solidFill>
                  <a:srgbClr val="3B82F6"/>
                </a:solidFill>
                <a:latin typeface="Aptos Display"/>
              </a:rPr>
              <a:t>0</a:t>
            </a:r>
          </a:p>
        </p:txBody>
      </p:sp>
      <p:sp>
        <p:nvSpPr>
          <p:cNvPr id="33" name="TextBox 32"/>
          <p:cNvSpPr txBox="1"/>
          <p:nvPr/>
        </p:nvSpPr>
        <p:spPr>
          <a:xfrm>
            <a:off x="8540496" y="5596127"/>
            <a:ext cx="2834640" cy="155448"/>
          </a:xfrm>
          <a:prstGeom prst="rect">
            <a:avLst/>
          </a:prstGeom>
          <a:noFill/>
        </p:spPr>
        <p:txBody>
          <a:bodyPr wrap="none" lIns="0" rIns="0" tIns="0" bIns="0" anchor="t">
            <a:spAutoFit/>
          </a:bodyPr>
          <a:lstStyle/>
          <a:p>
            <a:pPr algn="l">
              <a:lnSpc>
                <a:spcPct val="100000"/>
              </a:lnSpc>
            </a:pPr>
            <a:r>
              <a:rPr sz="800" b="0">
                <a:solidFill>
                  <a:srgbClr val="6F86A0"/>
                </a:solidFill>
                <a:latin typeface="Aptos"/>
              </a:rPr>
              <a:t>CPU-only record run</a:t>
            </a:r>
          </a:p>
        </p:txBody>
      </p:sp>
      <p:sp>
        <p:nvSpPr>
          <p:cNvPr id="34" name="TextBox 33"/>
          <p:cNvSpPr txBox="1"/>
          <p:nvPr/>
        </p:nvSpPr>
        <p:spPr>
          <a:xfrm>
            <a:off x="640080" y="6181344"/>
            <a:ext cx="4023360" cy="201168"/>
          </a:xfrm>
          <a:prstGeom prst="rect">
            <a:avLst/>
          </a:prstGeom>
          <a:noFill/>
        </p:spPr>
        <p:txBody>
          <a:bodyPr wrap="none" lIns="0" rIns="0" tIns="0" bIns="0" anchor="t">
            <a:spAutoFit/>
          </a:bodyPr>
          <a:lstStyle/>
          <a:p>
            <a:pPr algn="l">
              <a:lnSpc>
                <a:spcPct val="100000"/>
              </a:lnSpc>
            </a:pPr>
            <a:r>
              <a:rPr sz="850" b="1">
                <a:solidFill>
                  <a:srgbClr val="6F86A0"/>
                </a:solidFill>
                <a:latin typeface="Aptos"/>
              </a:rPr>
              <a:t>TIKTOK TECHJAM 2026 ·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TextBox 1"/>
          <p:cNvSpPr txBox="1"/>
          <p:nvPr/>
        </p:nvSpPr>
        <p:spPr>
          <a:xfrm>
            <a:off x="621792" y="438912"/>
            <a:ext cx="10972800" cy="530352"/>
          </a:xfrm>
          <a:prstGeom prst="rect">
            <a:avLst/>
          </a:prstGeom>
          <a:noFill/>
        </p:spPr>
        <p:txBody>
          <a:bodyPr wrap="none" lIns="0" rIns="0" tIns="0" bIns="0" anchor="t">
            <a:spAutoFit/>
          </a:bodyPr>
          <a:lstStyle/>
          <a:p>
            <a:pPr algn="l">
              <a:lnSpc>
                <a:spcPct val="100000"/>
              </a:lnSpc>
            </a:pPr>
            <a:r>
              <a:rPr sz="2700" b="1">
                <a:solidFill>
                  <a:srgbClr val="F8FAFC"/>
                </a:solidFill>
                <a:latin typeface="Aptos Display"/>
              </a:rPr>
              <a:t>Improving a recommender is still a manual loop.</a:t>
            </a:r>
          </a:p>
        </p:txBody>
      </p:sp>
      <p:sp>
        <p:nvSpPr>
          <p:cNvPr id="3" name="TextBox 2"/>
          <p:cNvSpPr txBox="1"/>
          <p:nvPr/>
        </p:nvSpPr>
        <p:spPr>
          <a:xfrm>
            <a:off x="640080" y="1005840"/>
            <a:ext cx="10881360" cy="384048"/>
          </a:xfrm>
          <a:prstGeom prst="rect">
            <a:avLst/>
          </a:prstGeom>
          <a:noFill/>
        </p:spPr>
        <p:txBody>
          <a:bodyPr wrap="none" lIns="0" rIns="0" tIns="0" bIns="0" anchor="t">
            <a:spAutoFit/>
          </a:bodyPr>
          <a:lstStyle/>
          <a:p>
            <a:pPr algn="l">
              <a:lnSpc>
                <a:spcPct val="100000"/>
              </a:lnSpc>
            </a:pPr>
            <a:r>
              <a:rPr sz="1200" b="0">
                <a:solidFill>
                  <a:srgbClr val="A9B8C9"/>
                </a:solidFill>
                <a:latin typeface="Aptos"/>
              </a:rPr>
              <a:t>Tiny ranking gains demand disciplined experimentation—not one lucky training run.</a:t>
            </a:r>
          </a:p>
        </p:txBody>
      </p:sp>
      <p:sp>
        <p:nvSpPr>
          <p:cNvPr id="4" name="Rounded Rectangle 3"/>
          <p:cNvSpPr/>
          <p:nvPr/>
        </p:nvSpPr>
        <p:spPr>
          <a:xfrm>
            <a:off x="640080" y="1719072"/>
            <a:ext cx="2057400" cy="13898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883664"/>
            <a:ext cx="310896" cy="219456"/>
          </a:xfrm>
          <a:prstGeom prst="rect">
            <a:avLst/>
          </a:prstGeom>
          <a:noFill/>
        </p:spPr>
        <p:txBody>
          <a:bodyPr wrap="none" lIns="0" rIns="0" tIns="0" bIns="0" anchor="t">
            <a:spAutoFit/>
          </a:bodyPr>
          <a:lstStyle/>
          <a:p>
            <a:pPr algn="l">
              <a:lnSpc>
                <a:spcPct val="100000"/>
              </a:lnSpc>
            </a:pPr>
            <a:r>
              <a:rPr sz="900" b="1">
                <a:solidFill>
                  <a:srgbClr val="3B82F6"/>
                </a:solidFill>
                <a:latin typeface="Aptos"/>
              </a:rPr>
              <a:t>01</a:t>
            </a:r>
          </a:p>
        </p:txBody>
      </p:sp>
      <p:sp>
        <p:nvSpPr>
          <p:cNvPr id="6" name="TextBox 5"/>
          <p:cNvSpPr txBox="1"/>
          <p:nvPr/>
        </p:nvSpPr>
        <p:spPr>
          <a:xfrm>
            <a:off x="786384" y="2148840"/>
            <a:ext cx="1764792" cy="301752"/>
          </a:xfrm>
          <a:prstGeom prst="rect">
            <a:avLst/>
          </a:prstGeom>
          <a:noFill/>
        </p:spPr>
        <p:txBody>
          <a:bodyPr wrap="none" lIns="0" rIns="0" tIns="0" bIns="0" anchor="t">
            <a:spAutoFit/>
          </a:bodyPr>
          <a:lstStyle/>
          <a:p>
            <a:pPr algn="l">
              <a:lnSpc>
                <a:spcPct val="100000"/>
              </a:lnSpc>
            </a:pPr>
            <a:r>
              <a:rPr sz="1500" b="1">
                <a:solidFill>
                  <a:srgbClr val="F8FAFC"/>
                </a:solidFill>
                <a:latin typeface="Aptos Display"/>
              </a:rPr>
              <a:t>Hypothesize</a:t>
            </a:r>
          </a:p>
        </p:txBody>
      </p:sp>
      <p:sp>
        <p:nvSpPr>
          <p:cNvPr id="7" name="TextBox 6"/>
          <p:cNvSpPr txBox="1"/>
          <p:nvPr/>
        </p:nvSpPr>
        <p:spPr>
          <a:xfrm>
            <a:off x="786384" y="2523744"/>
            <a:ext cx="1764792" cy="420624"/>
          </a:xfrm>
          <a:prstGeom prst="rect">
            <a:avLst/>
          </a:prstGeom>
          <a:noFill/>
        </p:spPr>
        <p:txBody>
          <a:bodyPr wrap="none" lIns="0" rIns="0" tIns="0" bIns="0" anchor="t">
            <a:spAutoFit/>
          </a:bodyPr>
          <a:lstStyle/>
          <a:p>
            <a:pPr algn="l">
              <a:lnSpc>
                <a:spcPct val="100000"/>
              </a:lnSpc>
            </a:pPr>
            <a:r>
              <a:rPr sz="1000" b="0">
                <a:solidFill>
                  <a:srgbClr val="A9B8C9"/>
                </a:solidFill>
                <a:latin typeface="Aptos"/>
              </a:rPr>
              <a:t>Choose what</a:t>
            </a:r>
            <a:br/>
            <a:r>
              <a:rPr sz="1000" b="0">
                <a:solidFill>
                  <a:srgbClr val="A9B8C9"/>
                </a:solidFill>
                <a:latin typeface="Aptos"/>
              </a:rPr>
              <a:t>to change</a:t>
            </a:r>
          </a:p>
        </p:txBody>
      </p:sp>
      <p:sp>
        <p:nvSpPr>
          <p:cNvPr id="8" name="TextBox 7"/>
          <p:cNvSpPr txBox="1"/>
          <p:nvPr/>
        </p:nvSpPr>
        <p:spPr>
          <a:xfrm>
            <a:off x="2706624" y="2267712"/>
            <a:ext cx="274320" cy="320040"/>
          </a:xfrm>
          <a:prstGeom prst="rect">
            <a:avLst/>
          </a:prstGeom>
          <a:noFill/>
        </p:spPr>
        <p:txBody>
          <a:bodyPr wrap="none" lIns="0" rIns="0" tIns="0" bIns="0" anchor="t">
            <a:spAutoFit/>
          </a:bodyPr>
          <a:lstStyle/>
          <a:p>
            <a:pPr algn="ctr">
              <a:lnSpc>
                <a:spcPct val="100000"/>
              </a:lnSpc>
            </a:pPr>
            <a:r>
              <a:rPr sz="1800" b="1">
                <a:solidFill>
                  <a:srgbClr val="3B82F6"/>
                </a:solidFill>
                <a:latin typeface="Aptos"/>
              </a:rPr>
              <a:t>&gt;</a:t>
            </a:r>
          </a:p>
        </p:txBody>
      </p:sp>
      <p:sp>
        <p:nvSpPr>
          <p:cNvPr id="9" name="Rounded Rectangle 8"/>
          <p:cNvSpPr/>
          <p:nvPr/>
        </p:nvSpPr>
        <p:spPr>
          <a:xfrm>
            <a:off x="2916936" y="1719072"/>
            <a:ext cx="2057400" cy="13898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1883664"/>
            <a:ext cx="310896" cy="219456"/>
          </a:xfrm>
          <a:prstGeom prst="rect">
            <a:avLst/>
          </a:prstGeom>
          <a:noFill/>
        </p:spPr>
        <p:txBody>
          <a:bodyPr wrap="none" lIns="0" rIns="0" tIns="0" bIns="0" anchor="t">
            <a:spAutoFit/>
          </a:bodyPr>
          <a:lstStyle/>
          <a:p>
            <a:pPr algn="l">
              <a:lnSpc>
                <a:spcPct val="100000"/>
              </a:lnSpc>
            </a:pPr>
            <a:r>
              <a:rPr sz="900" b="1">
                <a:solidFill>
                  <a:srgbClr val="3B82F6"/>
                </a:solidFill>
                <a:latin typeface="Aptos"/>
              </a:rPr>
              <a:t>02</a:t>
            </a:r>
          </a:p>
        </p:txBody>
      </p:sp>
      <p:sp>
        <p:nvSpPr>
          <p:cNvPr id="11" name="TextBox 10"/>
          <p:cNvSpPr txBox="1"/>
          <p:nvPr/>
        </p:nvSpPr>
        <p:spPr>
          <a:xfrm>
            <a:off x="3063240" y="2148840"/>
            <a:ext cx="1764792" cy="301752"/>
          </a:xfrm>
          <a:prstGeom prst="rect">
            <a:avLst/>
          </a:prstGeom>
          <a:noFill/>
        </p:spPr>
        <p:txBody>
          <a:bodyPr wrap="none" lIns="0" rIns="0" tIns="0" bIns="0" anchor="t">
            <a:spAutoFit/>
          </a:bodyPr>
          <a:lstStyle/>
          <a:p>
            <a:pPr algn="l">
              <a:lnSpc>
                <a:spcPct val="100000"/>
              </a:lnSpc>
            </a:pPr>
            <a:r>
              <a:rPr sz="1500" b="1">
                <a:solidFill>
                  <a:srgbClr val="F8FAFC"/>
                </a:solidFill>
                <a:latin typeface="Aptos Display"/>
              </a:rPr>
              <a:t>Code</a:t>
            </a:r>
          </a:p>
        </p:txBody>
      </p:sp>
      <p:sp>
        <p:nvSpPr>
          <p:cNvPr id="12" name="TextBox 11"/>
          <p:cNvSpPr txBox="1"/>
          <p:nvPr/>
        </p:nvSpPr>
        <p:spPr>
          <a:xfrm>
            <a:off x="3063240" y="2523744"/>
            <a:ext cx="1764792" cy="420624"/>
          </a:xfrm>
          <a:prstGeom prst="rect">
            <a:avLst/>
          </a:prstGeom>
          <a:noFill/>
        </p:spPr>
        <p:txBody>
          <a:bodyPr wrap="none" lIns="0" rIns="0" tIns="0" bIns="0" anchor="t">
            <a:spAutoFit/>
          </a:bodyPr>
          <a:lstStyle/>
          <a:p>
            <a:pPr algn="l">
              <a:lnSpc>
                <a:spcPct val="100000"/>
              </a:lnSpc>
            </a:pPr>
            <a:r>
              <a:rPr sz="1000" b="0">
                <a:solidFill>
                  <a:srgbClr val="A9B8C9"/>
                </a:solidFill>
                <a:latin typeface="Aptos"/>
              </a:rPr>
              <a:t>Build a full</a:t>
            </a:r>
            <a:br/>
            <a:r>
              <a:rPr sz="1000" b="0">
                <a:solidFill>
                  <a:srgbClr val="A9B8C9"/>
                </a:solidFill>
                <a:latin typeface="Aptos"/>
              </a:rPr>
              <a:t>solution</a:t>
            </a:r>
          </a:p>
        </p:txBody>
      </p:sp>
      <p:sp>
        <p:nvSpPr>
          <p:cNvPr id="13" name="TextBox 12"/>
          <p:cNvSpPr txBox="1"/>
          <p:nvPr/>
        </p:nvSpPr>
        <p:spPr>
          <a:xfrm>
            <a:off x="4983480" y="2267712"/>
            <a:ext cx="274320" cy="320040"/>
          </a:xfrm>
          <a:prstGeom prst="rect">
            <a:avLst/>
          </a:prstGeom>
          <a:noFill/>
        </p:spPr>
        <p:txBody>
          <a:bodyPr wrap="none" lIns="0" rIns="0" tIns="0" bIns="0" anchor="t">
            <a:spAutoFit/>
          </a:bodyPr>
          <a:lstStyle/>
          <a:p>
            <a:pPr algn="ctr">
              <a:lnSpc>
                <a:spcPct val="100000"/>
              </a:lnSpc>
            </a:pPr>
            <a:r>
              <a:rPr sz="1800" b="1">
                <a:solidFill>
                  <a:srgbClr val="3B82F6"/>
                </a:solidFill>
                <a:latin typeface="Aptos"/>
              </a:rPr>
              <a:t>&gt;</a:t>
            </a:r>
          </a:p>
        </p:txBody>
      </p:sp>
      <p:sp>
        <p:nvSpPr>
          <p:cNvPr id="14" name="Rounded Rectangle 13"/>
          <p:cNvSpPr/>
          <p:nvPr/>
        </p:nvSpPr>
        <p:spPr>
          <a:xfrm>
            <a:off x="5193792" y="1719072"/>
            <a:ext cx="2057400" cy="13898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0096" y="1883664"/>
            <a:ext cx="310896" cy="219456"/>
          </a:xfrm>
          <a:prstGeom prst="rect">
            <a:avLst/>
          </a:prstGeom>
          <a:noFill/>
        </p:spPr>
        <p:txBody>
          <a:bodyPr wrap="none" lIns="0" rIns="0" tIns="0" bIns="0" anchor="t">
            <a:spAutoFit/>
          </a:bodyPr>
          <a:lstStyle/>
          <a:p>
            <a:pPr algn="l">
              <a:lnSpc>
                <a:spcPct val="100000"/>
              </a:lnSpc>
            </a:pPr>
            <a:r>
              <a:rPr sz="900" b="1">
                <a:solidFill>
                  <a:srgbClr val="3B82F6"/>
                </a:solidFill>
                <a:latin typeface="Aptos"/>
              </a:rPr>
              <a:t>03</a:t>
            </a:r>
          </a:p>
        </p:txBody>
      </p:sp>
      <p:sp>
        <p:nvSpPr>
          <p:cNvPr id="16" name="TextBox 15"/>
          <p:cNvSpPr txBox="1"/>
          <p:nvPr/>
        </p:nvSpPr>
        <p:spPr>
          <a:xfrm>
            <a:off x="5340096" y="2148840"/>
            <a:ext cx="1764792" cy="301752"/>
          </a:xfrm>
          <a:prstGeom prst="rect">
            <a:avLst/>
          </a:prstGeom>
          <a:noFill/>
        </p:spPr>
        <p:txBody>
          <a:bodyPr wrap="none" lIns="0" rIns="0" tIns="0" bIns="0" anchor="t">
            <a:spAutoFit/>
          </a:bodyPr>
          <a:lstStyle/>
          <a:p>
            <a:pPr algn="l">
              <a:lnSpc>
                <a:spcPct val="100000"/>
              </a:lnSpc>
            </a:pPr>
            <a:r>
              <a:rPr sz="1500" b="1">
                <a:solidFill>
                  <a:srgbClr val="F8FAFC"/>
                </a:solidFill>
                <a:latin typeface="Aptos Display"/>
              </a:rPr>
              <a:t>Train</a:t>
            </a:r>
          </a:p>
        </p:txBody>
      </p:sp>
      <p:sp>
        <p:nvSpPr>
          <p:cNvPr id="17" name="TextBox 16"/>
          <p:cNvSpPr txBox="1"/>
          <p:nvPr/>
        </p:nvSpPr>
        <p:spPr>
          <a:xfrm>
            <a:off x="5340096" y="2523744"/>
            <a:ext cx="1764792" cy="420624"/>
          </a:xfrm>
          <a:prstGeom prst="rect">
            <a:avLst/>
          </a:prstGeom>
          <a:noFill/>
        </p:spPr>
        <p:txBody>
          <a:bodyPr wrap="none" lIns="0" rIns="0" tIns="0" bIns="0" anchor="t">
            <a:spAutoFit/>
          </a:bodyPr>
          <a:lstStyle/>
          <a:p>
            <a:pPr algn="l">
              <a:lnSpc>
                <a:spcPct val="100000"/>
              </a:lnSpc>
            </a:pPr>
            <a:r>
              <a:rPr sz="1000" b="0">
                <a:solidFill>
                  <a:srgbClr val="A9B8C9"/>
                </a:solidFill>
                <a:latin typeface="Aptos"/>
              </a:rPr>
              <a:t>Run the</a:t>
            </a:r>
            <a:br/>
            <a:r>
              <a:rPr sz="1000" b="0">
                <a:solidFill>
                  <a:srgbClr val="A9B8C9"/>
                </a:solidFill>
                <a:latin typeface="Aptos"/>
              </a:rPr>
              <a:t>experiment</a:t>
            </a:r>
          </a:p>
        </p:txBody>
      </p:sp>
      <p:sp>
        <p:nvSpPr>
          <p:cNvPr id="18" name="TextBox 17"/>
          <p:cNvSpPr txBox="1"/>
          <p:nvPr/>
        </p:nvSpPr>
        <p:spPr>
          <a:xfrm>
            <a:off x="7260336" y="2267712"/>
            <a:ext cx="274320" cy="320040"/>
          </a:xfrm>
          <a:prstGeom prst="rect">
            <a:avLst/>
          </a:prstGeom>
          <a:noFill/>
        </p:spPr>
        <p:txBody>
          <a:bodyPr wrap="none" lIns="0" rIns="0" tIns="0" bIns="0" anchor="t">
            <a:spAutoFit/>
          </a:bodyPr>
          <a:lstStyle/>
          <a:p>
            <a:pPr algn="ctr">
              <a:lnSpc>
                <a:spcPct val="100000"/>
              </a:lnSpc>
            </a:pPr>
            <a:r>
              <a:rPr sz="1800" b="1">
                <a:solidFill>
                  <a:srgbClr val="3B82F6"/>
                </a:solidFill>
                <a:latin typeface="Aptos"/>
              </a:rPr>
              <a:t>&gt;</a:t>
            </a:r>
          </a:p>
        </p:txBody>
      </p:sp>
      <p:sp>
        <p:nvSpPr>
          <p:cNvPr id="19" name="Rounded Rectangle 18"/>
          <p:cNvSpPr/>
          <p:nvPr/>
        </p:nvSpPr>
        <p:spPr>
          <a:xfrm>
            <a:off x="7470648" y="1719072"/>
            <a:ext cx="2057400" cy="13898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16952" y="1883664"/>
            <a:ext cx="310896" cy="219456"/>
          </a:xfrm>
          <a:prstGeom prst="rect">
            <a:avLst/>
          </a:prstGeom>
          <a:noFill/>
        </p:spPr>
        <p:txBody>
          <a:bodyPr wrap="none" lIns="0" rIns="0" tIns="0" bIns="0" anchor="t">
            <a:spAutoFit/>
          </a:bodyPr>
          <a:lstStyle/>
          <a:p>
            <a:pPr algn="l">
              <a:lnSpc>
                <a:spcPct val="100000"/>
              </a:lnSpc>
            </a:pPr>
            <a:r>
              <a:rPr sz="900" b="1">
                <a:solidFill>
                  <a:srgbClr val="3B82F6"/>
                </a:solidFill>
                <a:latin typeface="Aptos"/>
              </a:rPr>
              <a:t>04</a:t>
            </a:r>
          </a:p>
        </p:txBody>
      </p:sp>
      <p:sp>
        <p:nvSpPr>
          <p:cNvPr id="21" name="TextBox 20"/>
          <p:cNvSpPr txBox="1"/>
          <p:nvPr/>
        </p:nvSpPr>
        <p:spPr>
          <a:xfrm>
            <a:off x="7616952" y="2148840"/>
            <a:ext cx="1764792" cy="301752"/>
          </a:xfrm>
          <a:prstGeom prst="rect">
            <a:avLst/>
          </a:prstGeom>
          <a:noFill/>
        </p:spPr>
        <p:txBody>
          <a:bodyPr wrap="none" lIns="0" rIns="0" tIns="0" bIns="0" anchor="t">
            <a:spAutoFit/>
          </a:bodyPr>
          <a:lstStyle/>
          <a:p>
            <a:pPr algn="l">
              <a:lnSpc>
                <a:spcPct val="100000"/>
              </a:lnSpc>
            </a:pPr>
            <a:r>
              <a:rPr sz="1500" b="1">
                <a:solidFill>
                  <a:srgbClr val="F8FAFC"/>
                </a:solidFill>
                <a:latin typeface="Aptos Display"/>
              </a:rPr>
              <a:t>Evaluate</a:t>
            </a:r>
          </a:p>
        </p:txBody>
      </p:sp>
      <p:sp>
        <p:nvSpPr>
          <p:cNvPr id="22" name="TextBox 21"/>
          <p:cNvSpPr txBox="1"/>
          <p:nvPr/>
        </p:nvSpPr>
        <p:spPr>
          <a:xfrm>
            <a:off x="7616952" y="2523744"/>
            <a:ext cx="1764792" cy="420624"/>
          </a:xfrm>
          <a:prstGeom prst="rect">
            <a:avLst/>
          </a:prstGeom>
          <a:noFill/>
        </p:spPr>
        <p:txBody>
          <a:bodyPr wrap="none" lIns="0" rIns="0" tIns="0" bIns="0" anchor="t">
            <a:spAutoFit/>
          </a:bodyPr>
          <a:lstStyle/>
          <a:p>
            <a:pPr algn="l">
              <a:lnSpc>
                <a:spcPct val="100000"/>
              </a:lnSpc>
            </a:pPr>
            <a:r>
              <a:rPr sz="1000" b="0">
                <a:solidFill>
                  <a:srgbClr val="A9B8C9"/>
                </a:solidFill>
                <a:latin typeface="Aptos"/>
              </a:rPr>
              <a:t>Measure three</a:t>
            </a:r>
            <a:br/>
            <a:r>
              <a:rPr sz="1000" b="0">
                <a:solidFill>
                  <a:srgbClr val="A9B8C9"/>
                </a:solidFill>
                <a:latin typeface="Aptos"/>
              </a:rPr>
              <a:t>random seeds</a:t>
            </a:r>
          </a:p>
        </p:txBody>
      </p:sp>
      <p:sp>
        <p:nvSpPr>
          <p:cNvPr id="23" name="TextBox 22"/>
          <p:cNvSpPr txBox="1"/>
          <p:nvPr/>
        </p:nvSpPr>
        <p:spPr>
          <a:xfrm>
            <a:off x="9537192" y="2267712"/>
            <a:ext cx="274320" cy="320040"/>
          </a:xfrm>
          <a:prstGeom prst="rect">
            <a:avLst/>
          </a:prstGeom>
          <a:noFill/>
        </p:spPr>
        <p:txBody>
          <a:bodyPr wrap="none" lIns="0" rIns="0" tIns="0" bIns="0" anchor="t">
            <a:spAutoFit/>
          </a:bodyPr>
          <a:lstStyle/>
          <a:p>
            <a:pPr algn="ctr">
              <a:lnSpc>
                <a:spcPct val="100000"/>
              </a:lnSpc>
            </a:pPr>
            <a:r>
              <a:rPr sz="1800" b="1">
                <a:solidFill>
                  <a:srgbClr val="3B82F6"/>
                </a:solidFill>
                <a:latin typeface="Aptos"/>
              </a:rPr>
              <a:t>&gt;</a:t>
            </a:r>
          </a:p>
        </p:txBody>
      </p:sp>
      <p:sp>
        <p:nvSpPr>
          <p:cNvPr id="24" name="Rounded Rectangle 23"/>
          <p:cNvSpPr/>
          <p:nvPr/>
        </p:nvSpPr>
        <p:spPr>
          <a:xfrm>
            <a:off x="9747504" y="1719072"/>
            <a:ext cx="2057400" cy="13898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93808" y="1883664"/>
            <a:ext cx="310896" cy="219456"/>
          </a:xfrm>
          <a:prstGeom prst="rect">
            <a:avLst/>
          </a:prstGeom>
          <a:noFill/>
        </p:spPr>
        <p:txBody>
          <a:bodyPr wrap="none" lIns="0" rIns="0" tIns="0" bIns="0" anchor="t">
            <a:spAutoFit/>
          </a:bodyPr>
          <a:lstStyle/>
          <a:p>
            <a:pPr algn="l">
              <a:lnSpc>
                <a:spcPct val="100000"/>
              </a:lnSpc>
            </a:pPr>
            <a:r>
              <a:rPr sz="900" b="1">
                <a:solidFill>
                  <a:srgbClr val="3B82F6"/>
                </a:solidFill>
                <a:latin typeface="Aptos"/>
              </a:rPr>
              <a:t>05</a:t>
            </a:r>
          </a:p>
        </p:txBody>
      </p:sp>
      <p:sp>
        <p:nvSpPr>
          <p:cNvPr id="26" name="TextBox 25"/>
          <p:cNvSpPr txBox="1"/>
          <p:nvPr/>
        </p:nvSpPr>
        <p:spPr>
          <a:xfrm>
            <a:off x="9893808" y="2148840"/>
            <a:ext cx="1764792" cy="301752"/>
          </a:xfrm>
          <a:prstGeom prst="rect">
            <a:avLst/>
          </a:prstGeom>
          <a:noFill/>
        </p:spPr>
        <p:txBody>
          <a:bodyPr wrap="none" lIns="0" rIns="0" tIns="0" bIns="0" anchor="t">
            <a:spAutoFit/>
          </a:bodyPr>
          <a:lstStyle/>
          <a:p>
            <a:pPr algn="l">
              <a:lnSpc>
                <a:spcPct val="100000"/>
              </a:lnSpc>
            </a:pPr>
            <a:r>
              <a:rPr sz="1500" b="1">
                <a:solidFill>
                  <a:srgbClr val="F8FAFC"/>
                </a:solidFill>
                <a:latin typeface="Aptos Display"/>
              </a:rPr>
              <a:t>Decide</a:t>
            </a:r>
          </a:p>
        </p:txBody>
      </p:sp>
      <p:sp>
        <p:nvSpPr>
          <p:cNvPr id="27" name="TextBox 26"/>
          <p:cNvSpPr txBox="1"/>
          <p:nvPr/>
        </p:nvSpPr>
        <p:spPr>
          <a:xfrm>
            <a:off x="9893808" y="2523744"/>
            <a:ext cx="1764792" cy="420624"/>
          </a:xfrm>
          <a:prstGeom prst="rect">
            <a:avLst/>
          </a:prstGeom>
          <a:noFill/>
        </p:spPr>
        <p:txBody>
          <a:bodyPr wrap="none" lIns="0" rIns="0" tIns="0" bIns="0" anchor="t">
            <a:spAutoFit/>
          </a:bodyPr>
          <a:lstStyle/>
          <a:p>
            <a:pPr algn="l">
              <a:lnSpc>
                <a:spcPct val="100000"/>
              </a:lnSpc>
            </a:pPr>
            <a:r>
              <a:rPr sz="1000" b="0">
                <a:solidFill>
                  <a:srgbClr val="A9B8C9"/>
                </a:solidFill>
                <a:latin typeface="Aptos"/>
              </a:rPr>
              <a:t>Keep, reject,</a:t>
            </a:r>
            <a:br/>
            <a:r>
              <a:rPr sz="1000" b="0">
                <a:solidFill>
                  <a:srgbClr val="A9B8C9"/>
                </a:solidFill>
                <a:latin typeface="Aptos"/>
              </a:rPr>
              <a:t>or branch</a:t>
            </a:r>
          </a:p>
        </p:txBody>
      </p:sp>
      <p:sp>
        <p:nvSpPr>
          <p:cNvPr id="28" name="TextBox 27"/>
          <p:cNvSpPr txBox="1"/>
          <p:nvPr/>
        </p:nvSpPr>
        <p:spPr>
          <a:xfrm>
            <a:off x="640080" y="3529584"/>
            <a:ext cx="5852160" cy="320040"/>
          </a:xfrm>
          <a:prstGeom prst="rect">
            <a:avLst/>
          </a:prstGeom>
          <a:noFill/>
        </p:spPr>
        <p:txBody>
          <a:bodyPr wrap="none" lIns="0" rIns="0" tIns="0" bIns="0" anchor="t">
            <a:spAutoFit/>
          </a:bodyPr>
          <a:lstStyle/>
          <a:p>
            <a:pPr algn="l">
              <a:lnSpc>
                <a:spcPct val="100000"/>
              </a:lnSpc>
            </a:pPr>
            <a:r>
              <a:rPr sz="1700" b="1">
                <a:solidFill>
                  <a:srgbClr val="F8FAFC"/>
                </a:solidFill>
                <a:latin typeface="Aptos Display"/>
              </a:rPr>
              <a:t>The benchmark makes that loop unforgiving</a:t>
            </a:r>
          </a:p>
        </p:txBody>
      </p:sp>
      <p:sp>
        <p:nvSpPr>
          <p:cNvPr id="29" name="Rounded Rectangle 28"/>
          <p:cNvSpPr/>
          <p:nvPr/>
        </p:nvSpPr>
        <p:spPr>
          <a:xfrm>
            <a:off x="640080" y="4041648"/>
            <a:ext cx="2633472" cy="118872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4206240"/>
            <a:ext cx="2286000" cy="164592"/>
          </a:xfrm>
          <a:prstGeom prst="rect">
            <a:avLst/>
          </a:prstGeom>
          <a:noFill/>
        </p:spPr>
        <p:txBody>
          <a:bodyPr wrap="none" lIns="0" rIns="0" tIns="0" bIns="0" anchor="t">
            <a:spAutoFit/>
          </a:bodyPr>
          <a:lstStyle/>
          <a:p>
            <a:pPr algn="l">
              <a:lnSpc>
                <a:spcPct val="100000"/>
              </a:lnSpc>
            </a:pPr>
            <a:r>
              <a:rPr sz="850" b="1">
                <a:solidFill>
                  <a:srgbClr val="3B82F6"/>
                </a:solidFill>
                <a:latin typeface="Aptos"/>
              </a:rPr>
              <a:t>TASK</a:t>
            </a:r>
          </a:p>
        </p:txBody>
      </p:sp>
      <p:sp>
        <p:nvSpPr>
          <p:cNvPr id="31" name="TextBox 30"/>
          <p:cNvSpPr txBox="1"/>
          <p:nvPr/>
        </p:nvSpPr>
        <p:spPr>
          <a:xfrm>
            <a:off x="804671" y="4462272"/>
            <a:ext cx="2286000" cy="274320"/>
          </a:xfrm>
          <a:prstGeom prst="rect">
            <a:avLst/>
          </a:prstGeom>
          <a:noFill/>
        </p:spPr>
        <p:txBody>
          <a:bodyPr wrap="none" lIns="0" rIns="0" tIns="0" bIns="0" anchor="t">
            <a:spAutoFit/>
          </a:bodyPr>
          <a:lstStyle/>
          <a:p>
            <a:pPr algn="l">
              <a:lnSpc>
                <a:spcPct val="100000"/>
              </a:lnSpc>
            </a:pPr>
            <a:r>
              <a:rPr sz="1600" b="1">
                <a:solidFill>
                  <a:srgbClr val="F8FAFC"/>
                </a:solidFill>
                <a:latin typeface="Aptos Display"/>
              </a:rPr>
              <a:t>Rank long_view</a:t>
            </a:r>
          </a:p>
        </p:txBody>
      </p:sp>
      <p:sp>
        <p:nvSpPr>
          <p:cNvPr id="32" name="TextBox 31"/>
          <p:cNvSpPr txBox="1"/>
          <p:nvPr/>
        </p:nvSpPr>
        <p:spPr>
          <a:xfrm>
            <a:off x="804671" y="4837176"/>
            <a:ext cx="2286000" cy="219456"/>
          </a:xfrm>
          <a:prstGeom prst="rect">
            <a:avLst/>
          </a:prstGeom>
          <a:noFill/>
        </p:spPr>
        <p:txBody>
          <a:bodyPr wrap="none" lIns="0" rIns="0" tIns="0" bIns="0" anchor="t">
            <a:spAutoFit/>
          </a:bodyPr>
          <a:lstStyle/>
          <a:p>
            <a:pPr algn="l">
              <a:lnSpc>
                <a:spcPct val="100000"/>
              </a:lnSpc>
            </a:pPr>
            <a:r>
              <a:rPr sz="900" b="0">
                <a:solidFill>
                  <a:srgbClr val="A9B8C9"/>
                </a:solidFill>
                <a:latin typeface="Aptos"/>
              </a:rPr>
              <a:t>within each user's impressions</a:t>
            </a:r>
          </a:p>
        </p:txBody>
      </p:sp>
      <p:sp>
        <p:nvSpPr>
          <p:cNvPr id="33" name="Rounded Rectangle 32"/>
          <p:cNvSpPr/>
          <p:nvPr/>
        </p:nvSpPr>
        <p:spPr>
          <a:xfrm>
            <a:off x="3493008" y="4041648"/>
            <a:ext cx="2633472" cy="118872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0" y="4206240"/>
            <a:ext cx="2286000" cy="164592"/>
          </a:xfrm>
          <a:prstGeom prst="rect">
            <a:avLst/>
          </a:prstGeom>
          <a:noFill/>
        </p:spPr>
        <p:txBody>
          <a:bodyPr wrap="none" lIns="0" rIns="0" tIns="0" bIns="0" anchor="t">
            <a:spAutoFit/>
          </a:bodyPr>
          <a:lstStyle/>
          <a:p>
            <a:pPr algn="l">
              <a:lnSpc>
                <a:spcPct val="100000"/>
              </a:lnSpc>
            </a:pPr>
            <a:r>
              <a:rPr sz="850" b="1">
                <a:solidFill>
                  <a:srgbClr val="FBBF24"/>
                </a:solidFill>
                <a:latin typeface="Aptos"/>
              </a:rPr>
              <a:t>TARGET</a:t>
            </a:r>
          </a:p>
        </p:txBody>
      </p:sp>
      <p:sp>
        <p:nvSpPr>
          <p:cNvPr id="35" name="TextBox 34"/>
          <p:cNvSpPr txBox="1"/>
          <p:nvPr/>
        </p:nvSpPr>
        <p:spPr>
          <a:xfrm>
            <a:off x="3657600" y="4462272"/>
            <a:ext cx="2286000" cy="274320"/>
          </a:xfrm>
          <a:prstGeom prst="rect">
            <a:avLst/>
          </a:prstGeom>
          <a:noFill/>
        </p:spPr>
        <p:txBody>
          <a:bodyPr wrap="none" lIns="0" rIns="0" tIns="0" bIns="0" anchor="t">
            <a:spAutoFit/>
          </a:bodyPr>
          <a:lstStyle/>
          <a:p>
            <a:pPr algn="l">
              <a:lnSpc>
                <a:spcPct val="100000"/>
              </a:lnSpc>
            </a:pPr>
            <a:r>
              <a:rPr sz="1600" b="1">
                <a:solidFill>
                  <a:srgbClr val="F8FAFC"/>
                </a:solidFill>
                <a:latin typeface="Aptos Display"/>
              </a:rPr>
              <a:t>+0.002</a:t>
            </a:r>
          </a:p>
        </p:txBody>
      </p:sp>
      <p:sp>
        <p:nvSpPr>
          <p:cNvPr id="36" name="TextBox 35"/>
          <p:cNvSpPr txBox="1"/>
          <p:nvPr/>
        </p:nvSpPr>
        <p:spPr>
          <a:xfrm>
            <a:off x="3657600" y="4837176"/>
            <a:ext cx="2286000" cy="219456"/>
          </a:xfrm>
          <a:prstGeom prst="rect">
            <a:avLst/>
          </a:prstGeom>
          <a:noFill/>
        </p:spPr>
        <p:txBody>
          <a:bodyPr wrap="none" lIns="0" rIns="0" tIns="0" bIns="0" anchor="t">
            <a:spAutoFit/>
          </a:bodyPr>
          <a:lstStyle/>
          <a:p>
            <a:pPr algn="l">
              <a:lnSpc>
                <a:spcPct val="100000"/>
              </a:lnSpc>
            </a:pPr>
            <a:r>
              <a:rPr sz="900" b="0">
                <a:solidFill>
                  <a:srgbClr val="A9B8C9"/>
                </a:solidFill>
                <a:latin typeface="Aptos"/>
              </a:rPr>
              <a:t>above the official FM baseline</a:t>
            </a:r>
          </a:p>
        </p:txBody>
      </p:sp>
      <p:sp>
        <p:nvSpPr>
          <p:cNvPr id="37" name="Rounded Rectangle 36"/>
          <p:cNvSpPr/>
          <p:nvPr/>
        </p:nvSpPr>
        <p:spPr>
          <a:xfrm>
            <a:off x="6345936" y="4041648"/>
            <a:ext cx="2633472" cy="118872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4206240"/>
            <a:ext cx="2286000" cy="164592"/>
          </a:xfrm>
          <a:prstGeom prst="rect">
            <a:avLst/>
          </a:prstGeom>
          <a:noFill/>
        </p:spPr>
        <p:txBody>
          <a:bodyPr wrap="none" lIns="0" rIns="0" tIns="0" bIns="0" anchor="t">
            <a:spAutoFit/>
          </a:bodyPr>
          <a:lstStyle/>
          <a:p>
            <a:pPr algn="l">
              <a:lnSpc>
                <a:spcPct val="100000"/>
              </a:lnSpc>
            </a:pPr>
            <a:r>
              <a:rPr sz="850" b="1">
                <a:solidFill>
                  <a:srgbClr val="3B82F6"/>
                </a:solidFill>
                <a:latin typeface="Aptos"/>
              </a:rPr>
              <a:t>BUDGET</a:t>
            </a:r>
          </a:p>
        </p:txBody>
      </p:sp>
      <p:sp>
        <p:nvSpPr>
          <p:cNvPr id="39" name="TextBox 38"/>
          <p:cNvSpPr txBox="1"/>
          <p:nvPr/>
        </p:nvSpPr>
        <p:spPr>
          <a:xfrm>
            <a:off x="6510528" y="4462272"/>
            <a:ext cx="2286000" cy="274320"/>
          </a:xfrm>
          <a:prstGeom prst="rect">
            <a:avLst/>
          </a:prstGeom>
          <a:noFill/>
        </p:spPr>
        <p:txBody>
          <a:bodyPr wrap="none" lIns="0" rIns="0" tIns="0" bIns="0" anchor="t">
            <a:spAutoFit/>
          </a:bodyPr>
          <a:lstStyle/>
          <a:p>
            <a:pPr algn="l">
              <a:lnSpc>
                <a:spcPct val="100000"/>
              </a:lnSpc>
            </a:pPr>
            <a:r>
              <a:rPr sz="1600" b="1">
                <a:solidFill>
                  <a:srgbClr val="F8FAFC"/>
                </a:solidFill>
                <a:latin typeface="Aptos Display"/>
              </a:rPr>
              <a:t>50 exp · 6 h</a:t>
            </a:r>
          </a:p>
        </p:txBody>
      </p:sp>
      <p:sp>
        <p:nvSpPr>
          <p:cNvPr id="40" name="TextBox 39"/>
          <p:cNvSpPr txBox="1"/>
          <p:nvPr/>
        </p:nvSpPr>
        <p:spPr>
          <a:xfrm>
            <a:off x="6510528" y="4837176"/>
            <a:ext cx="2286000" cy="219456"/>
          </a:xfrm>
          <a:prstGeom prst="rect">
            <a:avLst/>
          </a:prstGeom>
          <a:noFill/>
        </p:spPr>
        <p:txBody>
          <a:bodyPr wrap="none" lIns="0" rIns="0" tIns="0" bIns="0" anchor="t">
            <a:spAutoFit/>
          </a:bodyPr>
          <a:lstStyle/>
          <a:p>
            <a:pPr algn="l">
              <a:lnSpc>
                <a:spcPct val="100000"/>
              </a:lnSpc>
            </a:pPr>
            <a:r>
              <a:rPr sz="900" b="0">
                <a:solidFill>
                  <a:srgbClr val="A9B8C9"/>
                </a:solidFill>
                <a:latin typeface="Aptos"/>
              </a:rPr>
              <a:t>hard competition cap</a:t>
            </a:r>
          </a:p>
        </p:txBody>
      </p:sp>
      <p:sp>
        <p:nvSpPr>
          <p:cNvPr id="41" name="Rounded Rectangle 40"/>
          <p:cNvSpPr/>
          <p:nvPr/>
        </p:nvSpPr>
        <p:spPr>
          <a:xfrm>
            <a:off x="9198863" y="4041648"/>
            <a:ext cx="2633472" cy="118872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63455" y="4206240"/>
            <a:ext cx="2286000" cy="164592"/>
          </a:xfrm>
          <a:prstGeom prst="rect">
            <a:avLst/>
          </a:prstGeom>
          <a:noFill/>
        </p:spPr>
        <p:txBody>
          <a:bodyPr wrap="none" lIns="0" rIns="0" tIns="0" bIns="0" anchor="t">
            <a:spAutoFit/>
          </a:bodyPr>
          <a:lstStyle/>
          <a:p>
            <a:pPr algn="l">
              <a:lnSpc>
                <a:spcPct val="100000"/>
              </a:lnSpc>
            </a:pPr>
            <a:r>
              <a:rPr sz="850" b="1">
                <a:solidFill>
                  <a:srgbClr val="34D399"/>
                </a:solidFill>
                <a:latin typeface="Aptos"/>
              </a:rPr>
              <a:t>NOISE</a:t>
            </a:r>
          </a:p>
        </p:txBody>
      </p:sp>
      <p:sp>
        <p:nvSpPr>
          <p:cNvPr id="43" name="TextBox 42"/>
          <p:cNvSpPr txBox="1"/>
          <p:nvPr/>
        </p:nvSpPr>
        <p:spPr>
          <a:xfrm>
            <a:off x="9363455" y="4462272"/>
            <a:ext cx="2286000" cy="274320"/>
          </a:xfrm>
          <a:prstGeom prst="rect">
            <a:avLst/>
          </a:prstGeom>
          <a:noFill/>
        </p:spPr>
        <p:txBody>
          <a:bodyPr wrap="none" lIns="0" rIns="0" tIns="0" bIns="0" anchor="t">
            <a:spAutoFit/>
          </a:bodyPr>
          <a:lstStyle/>
          <a:p>
            <a:pPr algn="l">
              <a:lnSpc>
                <a:spcPct val="100000"/>
              </a:lnSpc>
            </a:pPr>
            <a:r>
              <a:rPr sz="1600" b="1">
                <a:solidFill>
                  <a:srgbClr val="F8FAFC"/>
                </a:solidFill>
                <a:latin typeface="Aptos Display"/>
              </a:rPr>
              <a:t>3 seeds</a:t>
            </a:r>
          </a:p>
        </p:txBody>
      </p:sp>
      <p:sp>
        <p:nvSpPr>
          <p:cNvPr id="44" name="TextBox 43"/>
          <p:cNvSpPr txBox="1"/>
          <p:nvPr/>
        </p:nvSpPr>
        <p:spPr>
          <a:xfrm>
            <a:off x="9363455" y="4837176"/>
            <a:ext cx="2286000" cy="219456"/>
          </a:xfrm>
          <a:prstGeom prst="rect">
            <a:avLst/>
          </a:prstGeom>
          <a:noFill/>
        </p:spPr>
        <p:txBody>
          <a:bodyPr wrap="none" lIns="0" rIns="0" tIns="0" bIns="0" anchor="t">
            <a:spAutoFit/>
          </a:bodyPr>
          <a:lstStyle/>
          <a:p>
            <a:pPr algn="l">
              <a:lnSpc>
                <a:spcPct val="100000"/>
              </a:lnSpc>
            </a:pPr>
            <a:r>
              <a:rPr sz="900" b="0">
                <a:solidFill>
                  <a:srgbClr val="A9B8C9"/>
                </a:solidFill>
                <a:latin typeface="Aptos"/>
              </a:rPr>
              <a:t>one seed can swing 65% of target</a:t>
            </a:r>
          </a:p>
        </p:txBody>
      </p:sp>
      <p:sp>
        <p:nvSpPr>
          <p:cNvPr id="45" name="Rounded Rectangle 44"/>
          <p:cNvSpPr/>
          <p:nvPr/>
        </p:nvSpPr>
        <p:spPr>
          <a:xfrm>
            <a:off x="640080" y="5559552"/>
            <a:ext cx="10899648" cy="658368"/>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5724144"/>
            <a:ext cx="10387584" cy="274320"/>
          </a:xfrm>
          <a:prstGeom prst="rect">
            <a:avLst/>
          </a:prstGeom>
          <a:noFill/>
        </p:spPr>
        <p:txBody>
          <a:bodyPr wrap="none" lIns="0" rIns="0" tIns="0" bIns="0" anchor="t">
            <a:spAutoFit/>
          </a:bodyPr>
          <a:lstStyle/>
          <a:p>
            <a:pPr algn="ctr">
              <a:lnSpc>
                <a:spcPct val="100000"/>
              </a:lnSpc>
            </a:pPr>
            <a:r>
              <a:rPr sz="1500" b="1">
                <a:solidFill>
                  <a:srgbClr val="FBBF24"/>
                </a:solidFill>
                <a:latin typeface="Aptos Display"/>
              </a:rPr>
              <a:t>MeLearn automates the whole research loop—not just model inference.</a:t>
            </a:r>
          </a:p>
        </p:txBody>
      </p:sp>
      <p:sp>
        <p:nvSpPr>
          <p:cNvPr id="47" name="TextBox 46"/>
          <p:cNvSpPr txBox="1"/>
          <p:nvPr/>
        </p:nvSpPr>
        <p:spPr>
          <a:xfrm>
            <a:off x="621792" y="6528816"/>
            <a:ext cx="1463040" cy="201168"/>
          </a:xfrm>
          <a:prstGeom prst="rect">
            <a:avLst/>
          </a:prstGeom>
          <a:noFill/>
        </p:spPr>
        <p:txBody>
          <a:bodyPr wrap="none" lIns="0" rIns="0" tIns="0" bIns="0" anchor="t">
            <a:spAutoFit/>
          </a:bodyPr>
          <a:lstStyle/>
          <a:p>
            <a:pPr algn="l"/>
            <a:r>
              <a:rPr sz="1000" b="1">
                <a:solidFill>
                  <a:srgbClr val="3B82F6"/>
                </a:solidFill>
                <a:latin typeface="Aptos Display"/>
              </a:rPr>
              <a:t>M</a:t>
            </a:r>
            <a:r>
              <a:rPr sz="1000" b="1">
                <a:solidFill>
                  <a:srgbClr val="FBBF24"/>
                </a:solidFill>
                <a:latin typeface="Aptos Display"/>
              </a:rPr>
              <a:t>e</a:t>
            </a:r>
            <a:r>
              <a:rPr sz="1000" b="1">
                <a:solidFill>
                  <a:srgbClr val="3B82F6"/>
                </a:solidFill>
                <a:latin typeface="Aptos Display"/>
              </a:rPr>
              <a:t>L</a:t>
            </a:r>
            <a:r>
              <a:rPr sz="1000" b="1">
                <a:solidFill>
                  <a:srgbClr val="FBBF24"/>
                </a:solidFill>
                <a:latin typeface="Aptos Display"/>
              </a:rPr>
              <a:t>earn</a:t>
            </a:r>
          </a:p>
        </p:txBody>
      </p:sp>
      <p:sp>
        <p:nvSpPr>
          <p:cNvPr id="48" name="TextBox 47"/>
          <p:cNvSpPr txBox="1"/>
          <p:nvPr/>
        </p:nvSpPr>
        <p:spPr>
          <a:xfrm>
            <a:off x="11119104" y="6519672"/>
            <a:ext cx="438912" cy="182880"/>
          </a:xfrm>
          <a:prstGeom prst="rect">
            <a:avLst/>
          </a:prstGeom>
          <a:noFill/>
        </p:spPr>
        <p:txBody>
          <a:bodyPr wrap="none" lIns="0" rIns="0" tIns="0" bIns="0" anchor="t">
            <a:spAutoFit/>
          </a:bodyPr>
          <a:lstStyle/>
          <a:p>
            <a:pPr algn="r">
              <a:lnSpc>
                <a:spcPct val="100000"/>
              </a:lnSpc>
            </a:pPr>
            <a:r>
              <a:rPr sz="900" b="1">
                <a:solidFill>
                  <a:srgbClr val="6F86A0"/>
                </a:solidFill>
                <a:latin typeface="Aptos"/>
              </a:rPr>
              <a:t>02</a:t>
            </a:r>
          </a:p>
        </p:txBody>
      </p:sp>
      <p:sp>
        <p:nvSpPr>
          <p:cNvPr id="49" name="Rectangle 48"/>
          <p:cNvSpPr/>
          <p:nvPr/>
        </p:nvSpPr>
        <p:spPr>
          <a:xfrm>
            <a:off x="2057400" y="6601968"/>
            <a:ext cx="8732520" cy="16459"/>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57400" y="6601968"/>
            <a:ext cx="2910840" cy="1645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TextBox 1"/>
          <p:cNvSpPr txBox="1"/>
          <p:nvPr/>
        </p:nvSpPr>
        <p:spPr>
          <a:xfrm>
            <a:off x="621792" y="438912"/>
            <a:ext cx="10972800" cy="530352"/>
          </a:xfrm>
          <a:prstGeom prst="rect">
            <a:avLst/>
          </a:prstGeom>
          <a:noFill/>
        </p:spPr>
        <p:txBody>
          <a:bodyPr wrap="none" lIns="0" rIns="0" tIns="0" bIns="0" anchor="t">
            <a:spAutoFit/>
          </a:bodyPr>
          <a:lstStyle/>
          <a:p>
            <a:pPr algn="l">
              <a:lnSpc>
                <a:spcPct val="100000"/>
              </a:lnSpc>
            </a:pPr>
            <a:r>
              <a:rPr sz="2700" b="1">
                <a:solidFill>
                  <a:srgbClr val="F8FAFC"/>
                </a:solidFill>
                <a:latin typeface="Aptos Display"/>
              </a:rPr>
              <a:t>One command. Then leave it.</a:t>
            </a:r>
          </a:p>
        </p:txBody>
      </p:sp>
      <p:sp>
        <p:nvSpPr>
          <p:cNvPr id="3" name="TextBox 2"/>
          <p:cNvSpPr txBox="1"/>
          <p:nvPr/>
        </p:nvSpPr>
        <p:spPr>
          <a:xfrm>
            <a:off x="640080" y="1005840"/>
            <a:ext cx="10881360" cy="384048"/>
          </a:xfrm>
          <a:prstGeom prst="rect">
            <a:avLst/>
          </a:prstGeom>
          <a:noFill/>
        </p:spPr>
        <p:txBody>
          <a:bodyPr wrap="none" lIns="0" rIns="0" tIns="0" bIns="0" anchor="t">
            <a:spAutoFit/>
          </a:bodyPr>
          <a:lstStyle/>
          <a:p>
            <a:pPr algn="l">
              <a:lnSpc>
                <a:spcPct val="100000"/>
              </a:lnSpc>
            </a:pPr>
            <a:r>
              <a:rPr sz="1200" b="0">
                <a:solidFill>
                  <a:srgbClr val="A9B8C9"/>
                </a:solidFill>
                <a:latin typeface="Aptos"/>
              </a:rPr>
              <a:t>A multi-hour autonomous run, compressed here into one visible experiment cycle.</a:t>
            </a:r>
          </a:p>
        </p:txBody>
      </p:sp>
      <p:sp>
        <p:nvSpPr>
          <p:cNvPr id="4" name="Rounded Rectangle 3"/>
          <p:cNvSpPr/>
          <p:nvPr/>
        </p:nvSpPr>
        <p:spPr>
          <a:xfrm>
            <a:off x="621792" y="1536192"/>
            <a:ext cx="6720840" cy="4480560"/>
          </a:xfrm>
          <a:prstGeom prst="roundRect">
            <a:avLst/>
          </a:prstGeom>
          <a:solidFill>
            <a:srgbClr val="08111F"/>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792" y="1536192"/>
            <a:ext cx="6720840" cy="39319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8" y="1664208"/>
            <a:ext cx="91440" cy="91440"/>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 y="1664208"/>
            <a:ext cx="91440" cy="91440"/>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664208"/>
            <a:ext cx="91440" cy="9144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627632"/>
            <a:ext cx="4480560" cy="182880"/>
          </a:xfrm>
          <a:prstGeom prst="rect">
            <a:avLst/>
          </a:prstGeom>
          <a:noFill/>
        </p:spPr>
        <p:txBody>
          <a:bodyPr wrap="none" lIns="0" rIns="0" tIns="0" bIns="0" anchor="t">
            <a:spAutoFit/>
          </a:bodyPr>
          <a:lstStyle/>
          <a:p>
            <a:pPr algn="ctr">
              <a:lnSpc>
                <a:spcPct val="100000"/>
              </a:lnSpc>
            </a:pPr>
            <a:r>
              <a:rPr sz="850" b="1">
                <a:solidFill>
                  <a:srgbClr val="A9B8C9"/>
                </a:solidFill>
                <a:latin typeface="Consolas"/>
              </a:rPr>
              <a:t>melearn · autonomous run</a:t>
            </a:r>
          </a:p>
        </p:txBody>
      </p:sp>
      <p:sp>
        <p:nvSpPr>
          <p:cNvPr id="10" name="TextBox 9"/>
          <p:cNvSpPr txBox="1"/>
          <p:nvPr/>
        </p:nvSpPr>
        <p:spPr>
          <a:xfrm>
            <a:off x="932688" y="2148840"/>
            <a:ext cx="6035040" cy="228600"/>
          </a:xfrm>
          <a:prstGeom prst="rect">
            <a:avLst/>
          </a:prstGeom>
          <a:noFill/>
        </p:spPr>
        <p:txBody>
          <a:bodyPr wrap="none" lIns="0" rIns="0" tIns="0" bIns="0" anchor="t">
            <a:spAutoFit/>
          </a:bodyPr>
          <a:lstStyle/>
          <a:p>
            <a:pPr algn="l">
              <a:lnSpc>
                <a:spcPct val="100000"/>
              </a:lnSpc>
            </a:pPr>
            <a:r>
              <a:rPr sz="950" b="1">
                <a:solidFill>
                  <a:srgbClr val="3B82F6"/>
                </a:solidFill>
                <a:latin typeface="Consolas"/>
              </a:rPr>
              <a:t>&gt; python -m agent --dataset pure</a:t>
            </a:r>
          </a:p>
        </p:txBody>
      </p:sp>
      <p:sp>
        <p:nvSpPr>
          <p:cNvPr id="11" name="TextBox 10"/>
          <p:cNvSpPr txBox="1"/>
          <p:nvPr/>
        </p:nvSpPr>
        <p:spPr>
          <a:xfrm>
            <a:off x="932688" y="2560320"/>
            <a:ext cx="6035040" cy="228600"/>
          </a:xfrm>
          <a:prstGeom prst="rect">
            <a:avLst/>
          </a:prstGeom>
          <a:noFill/>
        </p:spPr>
        <p:txBody>
          <a:bodyPr wrap="none" lIns="0" rIns="0" tIns="0" bIns="0" anchor="t">
            <a:spAutoFit/>
          </a:bodyPr>
          <a:lstStyle/>
          <a:p>
            <a:pPr algn="l">
              <a:lnSpc>
                <a:spcPct val="100000"/>
              </a:lnSpc>
            </a:pPr>
            <a:r>
              <a:rPr sz="950" b="0">
                <a:solidFill>
                  <a:srgbClr val="A9B8C9"/>
                </a:solidFill>
                <a:latin typeface="Consolas"/>
              </a:rPr>
              <a:t>[run] ledger loaded · 26 completed experiments</a:t>
            </a:r>
          </a:p>
        </p:txBody>
      </p:sp>
      <p:sp>
        <p:nvSpPr>
          <p:cNvPr id="12" name="TextBox 11"/>
          <p:cNvSpPr txBox="1"/>
          <p:nvPr/>
        </p:nvSpPr>
        <p:spPr>
          <a:xfrm>
            <a:off x="932688" y="2971800"/>
            <a:ext cx="6035040" cy="228600"/>
          </a:xfrm>
          <a:prstGeom prst="rect">
            <a:avLst/>
          </a:prstGeom>
          <a:noFill/>
        </p:spPr>
        <p:txBody>
          <a:bodyPr wrap="none" lIns="0" rIns="0" tIns="0" bIns="0" anchor="t">
            <a:spAutoFit/>
          </a:bodyPr>
          <a:lstStyle/>
          <a:p>
            <a:pPr algn="l">
              <a:lnSpc>
                <a:spcPct val="100000"/>
              </a:lnSpc>
            </a:pPr>
            <a:r>
              <a:rPr sz="950" b="0">
                <a:solidFill>
                  <a:srgbClr val="FBBF24"/>
                </a:solidFill>
                <a:latin typeface="Consolas"/>
              </a:rPr>
              <a:t>[uct] selected parent node 24</a:t>
            </a:r>
          </a:p>
        </p:txBody>
      </p:sp>
      <p:sp>
        <p:nvSpPr>
          <p:cNvPr id="13" name="TextBox 12"/>
          <p:cNvSpPr txBox="1"/>
          <p:nvPr/>
        </p:nvSpPr>
        <p:spPr>
          <a:xfrm>
            <a:off x="932688" y="3383280"/>
            <a:ext cx="6035040" cy="228600"/>
          </a:xfrm>
          <a:prstGeom prst="rect">
            <a:avLst/>
          </a:prstGeom>
          <a:noFill/>
        </p:spPr>
        <p:txBody>
          <a:bodyPr wrap="none" lIns="0" rIns="0" tIns="0" bIns="0" anchor="t">
            <a:spAutoFit/>
          </a:bodyPr>
          <a:lstStyle/>
          <a:p>
            <a:pPr algn="l">
              <a:lnSpc>
                <a:spcPct val="100000"/>
              </a:lnSpc>
            </a:pPr>
            <a:r>
              <a:rPr sz="950" b="0">
                <a:solidFill>
                  <a:srgbClr val="F8FAFC"/>
                </a:solidFill>
                <a:latin typeface="Consolas"/>
              </a:rPr>
              <a:t>[idea] add a small DeepFM ensemble member</a:t>
            </a:r>
          </a:p>
        </p:txBody>
      </p:sp>
      <p:sp>
        <p:nvSpPr>
          <p:cNvPr id="14" name="TextBox 13"/>
          <p:cNvSpPr txBox="1"/>
          <p:nvPr/>
        </p:nvSpPr>
        <p:spPr>
          <a:xfrm>
            <a:off x="932688" y="3794760"/>
            <a:ext cx="6035040" cy="228600"/>
          </a:xfrm>
          <a:prstGeom prst="rect">
            <a:avLst/>
          </a:prstGeom>
          <a:noFill/>
        </p:spPr>
        <p:txBody>
          <a:bodyPr wrap="none" lIns="0" rIns="0" tIns="0" bIns="0" anchor="t">
            <a:spAutoFit/>
          </a:bodyPr>
          <a:lstStyle/>
          <a:p>
            <a:pPr algn="l">
              <a:lnSpc>
                <a:spcPct val="100000"/>
              </a:lnSpc>
            </a:pPr>
            <a:r>
              <a:rPr sz="950" b="0">
                <a:solidFill>
                  <a:srgbClr val="A9B8C9"/>
                </a:solidFill>
                <a:latin typeface="Consolas"/>
              </a:rPr>
              <a:t>[write] solutions/027_deepfm_ensemble.py</a:t>
            </a:r>
          </a:p>
        </p:txBody>
      </p:sp>
      <p:sp>
        <p:nvSpPr>
          <p:cNvPr id="15" name="TextBox 14"/>
          <p:cNvSpPr txBox="1"/>
          <p:nvPr/>
        </p:nvSpPr>
        <p:spPr>
          <a:xfrm>
            <a:off x="932688" y="4206240"/>
            <a:ext cx="6035040" cy="228600"/>
          </a:xfrm>
          <a:prstGeom prst="rect">
            <a:avLst/>
          </a:prstGeom>
          <a:noFill/>
        </p:spPr>
        <p:txBody>
          <a:bodyPr wrap="none" lIns="0" rIns="0" tIns="0" bIns="0" anchor="t">
            <a:spAutoFit/>
          </a:bodyPr>
          <a:lstStyle/>
          <a:p>
            <a:pPr algn="l">
              <a:lnSpc>
                <a:spcPct val="100000"/>
              </a:lnSpc>
            </a:pPr>
            <a:r>
              <a:rPr sz="950" b="0">
                <a:solidFill>
                  <a:srgbClr val="3B82F6"/>
                </a:solidFill>
                <a:latin typeface="Consolas"/>
              </a:rPr>
              <a:t>[eval] seed 1/3  seed 2/3  seed 3/3</a:t>
            </a:r>
          </a:p>
        </p:txBody>
      </p:sp>
      <p:sp>
        <p:nvSpPr>
          <p:cNvPr id="16" name="TextBox 15"/>
          <p:cNvSpPr txBox="1"/>
          <p:nvPr/>
        </p:nvSpPr>
        <p:spPr>
          <a:xfrm>
            <a:off x="932688" y="4617720"/>
            <a:ext cx="6035040" cy="228600"/>
          </a:xfrm>
          <a:prstGeom prst="rect">
            <a:avLst/>
          </a:prstGeom>
          <a:noFill/>
        </p:spPr>
        <p:txBody>
          <a:bodyPr wrap="none" lIns="0" rIns="0" tIns="0" bIns="0" anchor="t">
            <a:spAutoFit/>
          </a:bodyPr>
          <a:lstStyle/>
          <a:p>
            <a:pPr algn="l">
              <a:lnSpc>
                <a:spcPct val="100000"/>
              </a:lnSpc>
            </a:pPr>
            <a:r>
              <a:rPr sz="950" b="1">
                <a:solidFill>
                  <a:srgbClr val="34D399"/>
                </a:solidFill>
                <a:latin typeface="Consolas"/>
              </a:rPr>
              <a:t>[score] primary 0.605493  ·  gain +0.003944</a:t>
            </a:r>
          </a:p>
        </p:txBody>
      </p:sp>
      <p:sp>
        <p:nvSpPr>
          <p:cNvPr id="17" name="TextBox 16"/>
          <p:cNvSpPr txBox="1"/>
          <p:nvPr/>
        </p:nvSpPr>
        <p:spPr>
          <a:xfrm>
            <a:off x="932688" y="5029200"/>
            <a:ext cx="6035040" cy="228600"/>
          </a:xfrm>
          <a:prstGeom prst="rect">
            <a:avLst/>
          </a:prstGeom>
          <a:noFill/>
        </p:spPr>
        <p:txBody>
          <a:bodyPr wrap="none" lIns="0" rIns="0" tIns="0" bIns="0" anchor="t">
            <a:spAutoFit/>
          </a:bodyPr>
          <a:lstStyle/>
          <a:p>
            <a:pPr algn="l">
              <a:lnSpc>
                <a:spcPct val="100000"/>
              </a:lnSpc>
            </a:pPr>
            <a:r>
              <a:rPr sz="950" b="1">
                <a:solidFill>
                  <a:srgbClr val="FBBF24"/>
                </a:solidFill>
                <a:latin typeface="Consolas"/>
              </a:rPr>
              <a:t>[ledger] verdict: KEPT  ·  continue search</a:t>
            </a:r>
          </a:p>
        </p:txBody>
      </p:sp>
      <p:sp>
        <p:nvSpPr>
          <p:cNvPr id="18" name="Rounded Rectangle 17"/>
          <p:cNvSpPr/>
          <p:nvPr/>
        </p:nvSpPr>
        <p:spPr>
          <a:xfrm>
            <a:off x="932688" y="5486400"/>
            <a:ext cx="2157984" cy="310896"/>
          </a:xfrm>
          <a:prstGeom prst="roundRect">
            <a:avLst/>
          </a:prstGeom>
          <a:solidFill>
            <a:srgbClr val="10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495544"/>
            <a:ext cx="2157984" cy="256032"/>
          </a:xfrm>
          <a:prstGeom prst="rect">
            <a:avLst/>
          </a:prstGeom>
          <a:noFill/>
        </p:spPr>
        <p:txBody>
          <a:bodyPr wrap="none" lIns="0" rIns="0" tIns="0" bIns="0" anchor="ctr">
            <a:spAutoFit/>
          </a:bodyPr>
          <a:lstStyle/>
          <a:p>
            <a:pPr algn="ctr">
              <a:lnSpc>
                <a:spcPct val="100000"/>
              </a:lnSpc>
            </a:pPr>
            <a:r>
              <a:rPr sz="800" b="1">
                <a:solidFill>
                  <a:srgbClr val="6F86A0"/>
                </a:solidFill>
                <a:latin typeface="Aptos"/>
              </a:rPr>
              <a:t>HOURS COMPRESSED FOR DEMO</a:t>
            </a:r>
          </a:p>
        </p:txBody>
      </p:sp>
      <p:sp>
        <p:nvSpPr>
          <p:cNvPr id="20" name="Rounded Rectangle 19"/>
          <p:cNvSpPr/>
          <p:nvPr/>
        </p:nvSpPr>
        <p:spPr>
          <a:xfrm>
            <a:off x="7626096" y="1536192"/>
            <a:ext cx="3922776" cy="448056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1810512"/>
            <a:ext cx="3328416" cy="201168"/>
          </a:xfrm>
          <a:prstGeom prst="rect">
            <a:avLst/>
          </a:prstGeom>
          <a:noFill/>
        </p:spPr>
        <p:txBody>
          <a:bodyPr wrap="none" lIns="0" rIns="0" tIns="0" bIns="0" anchor="t">
            <a:spAutoFit/>
          </a:bodyPr>
          <a:lstStyle/>
          <a:p>
            <a:pPr algn="l">
              <a:lnSpc>
                <a:spcPct val="100000"/>
              </a:lnSpc>
            </a:pPr>
            <a:r>
              <a:rPr sz="900" b="1">
                <a:solidFill>
                  <a:srgbClr val="FBBF24"/>
                </a:solidFill>
                <a:latin typeface="Aptos"/>
              </a:rPr>
              <a:t>WHAT THE AGENT DOES</a:t>
            </a:r>
          </a:p>
        </p:txBody>
      </p:sp>
      <p:sp>
        <p:nvSpPr>
          <p:cNvPr id="22" name="Oval 21"/>
          <p:cNvSpPr/>
          <p:nvPr/>
        </p:nvSpPr>
        <p:spPr>
          <a:xfrm>
            <a:off x="7918704" y="2194560"/>
            <a:ext cx="310896" cy="310896"/>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18704" y="2249424"/>
            <a:ext cx="310896" cy="128016"/>
          </a:xfrm>
          <a:prstGeom prst="rect">
            <a:avLst/>
          </a:prstGeom>
          <a:noFill/>
        </p:spPr>
        <p:txBody>
          <a:bodyPr wrap="none" lIns="0" rIns="0" tIns="0" bIns="0" anchor="t">
            <a:spAutoFit/>
          </a:bodyPr>
          <a:lstStyle/>
          <a:p>
            <a:pPr algn="ctr">
              <a:lnSpc>
                <a:spcPct val="100000"/>
              </a:lnSpc>
            </a:pPr>
            <a:r>
              <a:rPr sz="750" b="1">
                <a:solidFill>
                  <a:srgbClr val="071426"/>
                </a:solidFill>
                <a:latin typeface="Aptos"/>
              </a:rPr>
              <a:t>01</a:t>
            </a:r>
          </a:p>
        </p:txBody>
      </p:sp>
      <p:sp>
        <p:nvSpPr>
          <p:cNvPr id="24" name="TextBox 23"/>
          <p:cNvSpPr txBox="1"/>
          <p:nvPr/>
        </p:nvSpPr>
        <p:spPr>
          <a:xfrm>
            <a:off x="8394192" y="2203703"/>
            <a:ext cx="2788920" cy="256032"/>
          </a:xfrm>
          <a:prstGeom prst="rect">
            <a:avLst/>
          </a:prstGeom>
          <a:noFill/>
        </p:spPr>
        <p:txBody>
          <a:bodyPr wrap="none" lIns="0" rIns="0" tIns="0" bIns="0" anchor="t">
            <a:spAutoFit/>
          </a:bodyPr>
          <a:lstStyle/>
          <a:p>
            <a:pPr algn="l">
              <a:lnSpc>
                <a:spcPct val="100000"/>
              </a:lnSpc>
            </a:pPr>
            <a:r>
              <a:rPr sz="1050" b="0">
                <a:solidFill>
                  <a:srgbClr val="F8FAFC"/>
                </a:solidFill>
                <a:latin typeface="Aptos"/>
              </a:rPr>
              <a:t>Read the research history</a:t>
            </a:r>
          </a:p>
        </p:txBody>
      </p:sp>
      <p:sp>
        <p:nvSpPr>
          <p:cNvPr id="25" name="Rectangle 24"/>
          <p:cNvSpPr/>
          <p:nvPr/>
        </p:nvSpPr>
        <p:spPr>
          <a:xfrm>
            <a:off x="8055864" y="2523744"/>
            <a:ext cx="22860" cy="219456"/>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18704" y="2752344"/>
            <a:ext cx="310896" cy="310896"/>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18704" y="2807208"/>
            <a:ext cx="310896" cy="128016"/>
          </a:xfrm>
          <a:prstGeom prst="rect">
            <a:avLst/>
          </a:prstGeom>
          <a:noFill/>
        </p:spPr>
        <p:txBody>
          <a:bodyPr wrap="none" lIns="0" rIns="0" tIns="0" bIns="0" anchor="t">
            <a:spAutoFit/>
          </a:bodyPr>
          <a:lstStyle/>
          <a:p>
            <a:pPr algn="ctr">
              <a:lnSpc>
                <a:spcPct val="100000"/>
              </a:lnSpc>
            </a:pPr>
            <a:r>
              <a:rPr sz="750" b="1">
                <a:solidFill>
                  <a:srgbClr val="071426"/>
                </a:solidFill>
                <a:latin typeface="Aptos"/>
              </a:rPr>
              <a:t>02</a:t>
            </a:r>
          </a:p>
        </p:txBody>
      </p:sp>
      <p:sp>
        <p:nvSpPr>
          <p:cNvPr id="28" name="TextBox 27"/>
          <p:cNvSpPr txBox="1"/>
          <p:nvPr/>
        </p:nvSpPr>
        <p:spPr>
          <a:xfrm>
            <a:off x="8394192" y="2761487"/>
            <a:ext cx="2788920" cy="256032"/>
          </a:xfrm>
          <a:prstGeom prst="rect">
            <a:avLst/>
          </a:prstGeom>
          <a:noFill/>
        </p:spPr>
        <p:txBody>
          <a:bodyPr wrap="none" lIns="0" rIns="0" tIns="0" bIns="0" anchor="t">
            <a:spAutoFit/>
          </a:bodyPr>
          <a:lstStyle/>
          <a:p>
            <a:pPr algn="l">
              <a:lnSpc>
                <a:spcPct val="100000"/>
              </a:lnSpc>
            </a:pPr>
            <a:r>
              <a:rPr sz="1050" b="0">
                <a:solidFill>
                  <a:srgbClr val="F8FAFC"/>
                </a:solidFill>
                <a:latin typeface="Aptos"/>
              </a:rPr>
              <a:t>Choose a promising branch</a:t>
            </a:r>
          </a:p>
        </p:txBody>
      </p:sp>
      <p:sp>
        <p:nvSpPr>
          <p:cNvPr id="29" name="Rectangle 28"/>
          <p:cNvSpPr/>
          <p:nvPr/>
        </p:nvSpPr>
        <p:spPr>
          <a:xfrm>
            <a:off x="8055864" y="3081527"/>
            <a:ext cx="22860" cy="219456"/>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8704" y="3310128"/>
            <a:ext cx="310896" cy="310896"/>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8704" y="3364992"/>
            <a:ext cx="310896" cy="128016"/>
          </a:xfrm>
          <a:prstGeom prst="rect">
            <a:avLst/>
          </a:prstGeom>
          <a:noFill/>
        </p:spPr>
        <p:txBody>
          <a:bodyPr wrap="none" lIns="0" rIns="0" tIns="0" bIns="0" anchor="t">
            <a:spAutoFit/>
          </a:bodyPr>
          <a:lstStyle/>
          <a:p>
            <a:pPr algn="ctr">
              <a:lnSpc>
                <a:spcPct val="100000"/>
              </a:lnSpc>
            </a:pPr>
            <a:r>
              <a:rPr sz="750" b="1">
                <a:solidFill>
                  <a:srgbClr val="071426"/>
                </a:solidFill>
                <a:latin typeface="Aptos"/>
              </a:rPr>
              <a:t>03</a:t>
            </a:r>
          </a:p>
        </p:txBody>
      </p:sp>
      <p:sp>
        <p:nvSpPr>
          <p:cNvPr id="32" name="TextBox 31"/>
          <p:cNvSpPr txBox="1"/>
          <p:nvPr/>
        </p:nvSpPr>
        <p:spPr>
          <a:xfrm>
            <a:off x="8394192" y="3319272"/>
            <a:ext cx="2788920" cy="256032"/>
          </a:xfrm>
          <a:prstGeom prst="rect">
            <a:avLst/>
          </a:prstGeom>
          <a:noFill/>
        </p:spPr>
        <p:txBody>
          <a:bodyPr wrap="none" lIns="0" rIns="0" tIns="0" bIns="0" anchor="t">
            <a:spAutoFit/>
          </a:bodyPr>
          <a:lstStyle/>
          <a:p>
            <a:pPr algn="l">
              <a:lnSpc>
                <a:spcPct val="100000"/>
              </a:lnSpc>
            </a:pPr>
            <a:r>
              <a:rPr sz="1050" b="0">
                <a:solidFill>
                  <a:srgbClr val="F8FAFC"/>
                </a:solidFill>
                <a:latin typeface="Aptos"/>
              </a:rPr>
              <a:t>Write a standalone solution</a:t>
            </a:r>
          </a:p>
        </p:txBody>
      </p:sp>
      <p:sp>
        <p:nvSpPr>
          <p:cNvPr id="33" name="Rectangle 32"/>
          <p:cNvSpPr/>
          <p:nvPr/>
        </p:nvSpPr>
        <p:spPr>
          <a:xfrm>
            <a:off x="8055864" y="3639312"/>
            <a:ext cx="22860" cy="219456"/>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918704" y="3867912"/>
            <a:ext cx="310896" cy="310896"/>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18704" y="3922776"/>
            <a:ext cx="310896" cy="128016"/>
          </a:xfrm>
          <a:prstGeom prst="rect">
            <a:avLst/>
          </a:prstGeom>
          <a:noFill/>
        </p:spPr>
        <p:txBody>
          <a:bodyPr wrap="none" lIns="0" rIns="0" tIns="0" bIns="0" anchor="t">
            <a:spAutoFit/>
          </a:bodyPr>
          <a:lstStyle/>
          <a:p>
            <a:pPr algn="ctr">
              <a:lnSpc>
                <a:spcPct val="100000"/>
              </a:lnSpc>
            </a:pPr>
            <a:r>
              <a:rPr sz="750" b="1">
                <a:solidFill>
                  <a:srgbClr val="071426"/>
                </a:solidFill>
                <a:latin typeface="Aptos"/>
              </a:rPr>
              <a:t>04</a:t>
            </a:r>
          </a:p>
        </p:txBody>
      </p:sp>
      <p:sp>
        <p:nvSpPr>
          <p:cNvPr id="36" name="TextBox 35"/>
          <p:cNvSpPr txBox="1"/>
          <p:nvPr/>
        </p:nvSpPr>
        <p:spPr>
          <a:xfrm>
            <a:off x="8394192" y="3877056"/>
            <a:ext cx="2788920" cy="256032"/>
          </a:xfrm>
          <a:prstGeom prst="rect">
            <a:avLst/>
          </a:prstGeom>
          <a:noFill/>
        </p:spPr>
        <p:txBody>
          <a:bodyPr wrap="none" lIns="0" rIns="0" tIns="0" bIns="0" anchor="t">
            <a:spAutoFit/>
          </a:bodyPr>
          <a:lstStyle/>
          <a:p>
            <a:pPr algn="l">
              <a:lnSpc>
                <a:spcPct val="100000"/>
              </a:lnSpc>
            </a:pPr>
            <a:r>
              <a:rPr sz="1050" b="0">
                <a:solidFill>
                  <a:srgbClr val="F8FAFC"/>
                </a:solidFill>
                <a:latin typeface="Aptos"/>
              </a:rPr>
              <a:t>Evaluate across three seeds</a:t>
            </a:r>
          </a:p>
        </p:txBody>
      </p:sp>
      <p:sp>
        <p:nvSpPr>
          <p:cNvPr id="37" name="Rectangle 36"/>
          <p:cNvSpPr/>
          <p:nvPr/>
        </p:nvSpPr>
        <p:spPr>
          <a:xfrm>
            <a:off x="8055864" y="4197096"/>
            <a:ext cx="22860" cy="219456"/>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918704" y="4425696"/>
            <a:ext cx="310896" cy="31089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18704" y="4480559"/>
            <a:ext cx="310896" cy="128016"/>
          </a:xfrm>
          <a:prstGeom prst="rect">
            <a:avLst/>
          </a:prstGeom>
          <a:noFill/>
        </p:spPr>
        <p:txBody>
          <a:bodyPr wrap="none" lIns="0" rIns="0" tIns="0" bIns="0" anchor="t">
            <a:spAutoFit/>
          </a:bodyPr>
          <a:lstStyle/>
          <a:p>
            <a:pPr algn="ctr">
              <a:lnSpc>
                <a:spcPct val="100000"/>
              </a:lnSpc>
            </a:pPr>
            <a:r>
              <a:rPr sz="750" b="1">
                <a:solidFill>
                  <a:srgbClr val="071426"/>
                </a:solidFill>
                <a:latin typeface="Aptos"/>
              </a:rPr>
              <a:t>05</a:t>
            </a:r>
          </a:p>
        </p:txBody>
      </p:sp>
      <p:sp>
        <p:nvSpPr>
          <p:cNvPr id="40" name="TextBox 39"/>
          <p:cNvSpPr txBox="1"/>
          <p:nvPr/>
        </p:nvSpPr>
        <p:spPr>
          <a:xfrm>
            <a:off x="8394192" y="4434840"/>
            <a:ext cx="2788920" cy="256032"/>
          </a:xfrm>
          <a:prstGeom prst="rect">
            <a:avLst/>
          </a:prstGeom>
          <a:noFill/>
        </p:spPr>
        <p:txBody>
          <a:bodyPr wrap="none" lIns="0" rIns="0" tIns="0" bIns="0" anchor="t">
            <a:spAutoFit/>
          </a:bodyPr>
          <a:lstStyle/>
          <a:p>
            <a:pPr algn="l">
              <a:lnSpc>
                <a:spcPct val="100000"/>
              </a:lnSpc>
            </a:pPr>
            <a:r>
              <a:rPr sz="1050" b="1">
                <a:solidFill>
                  <a:srgbClr val="F8FAFC"/>
                </a:solidFill>
                <a:latin typeface="Aptos"/>
              </a:rPr>
              <a:t>Persist the result and repeat</a:t>
            </a:r>
          </a:p>
        </p:txBody>
      </p:sp>
      <p:sp>
        <p:nvSpPr>
          <p:cNvPr id="41" name="Rounded Rectangle 40"/>
          <p:cNvSpPr/>
          <p:nvPr/>
        </p:nvSpPr>
        <p:spPr>
          <a:xfrm>
            <a:off x="7900416" y="5230368"/>
            <a:ext cx="3346704" cy="512064"/>
          </a:xfrm>
          <a:prstGeom prst="roundRect">
            <a:avLst/>
          </a:prstGeom>
          <a:solidFill>
            <a:srgbClr val="183D38"/>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65008" y="5358384"/>
            <a:ext cx="3017520" cy="210312"/>
          </a:xfrm>
          <a:prstGeom prst="rect">
            <a:avLst/>
          </a:prstGeom>
          <a:noFill/>
        </p:spPr>
        <p:txBody>
          <a:bodyPr wrap="none" lIns="0" rIns="0" tIns="0" bIns="0" anchor="t">
            <a:spAutoFit/>
          </a:bodyPr>
          <a:lstStyle/>
          <a:p>
            <a:pPr algn="ctr">
              <a:lnSpc>
                <a:spcPct val="100000"/>
              </a:lnSpc>
            </a:pPr>
            <a:r>
              <a:rPr sz="1000" b="1">
                <a:solidFill>
                  <a:srgbClr val="34D399"/>
                </a:solidFill>
                <a:latin typeface="Aptos"/>
              </a:rPr>
              <a:t>WINNER · EXPERIMENT 27</a:t>
            </a:r>
          </a:p>
        </p:txBody>
      </p:sp>
      <p:sp>
        <p:nvSpPr>
          <p:cNvPr id="43" name="TextBox 42"/>
          <p:cNvSpPr txBox="1"/>
          <p:nvPr/>
        </p:nvSpPr>
        <p:spPr>
          <a:xfrm>
            <a:off x="621792" y="6528816"/>
            <a:ext cx="1463040" cy="201168"/>
          </a:xfrm>
          <a:prstGeom prst="rect">
            <a:avLst/>
          </a:prstGeom>
          <a:noFill/>
        </p:spPr>
        <p:txBody>
          <a:bodyPr wrap="none" lIns="0" rIns="0" tIns="0" bIns="0" anchor="t">
            <a:spAutoFit/>
          </a:bodyPr>
          <a:lstStyle/>
          <a:p>
            <a:pPr algn="l"/>
            <a:r>
              <a:rPr sz="1000" b="1">
                <a:solidFill>
                  <a:srgbClr val="3B82F6"/>
                </a:solidFill>
                <a:latin typeface="Aptos Display"/>
              </a:rPr>
              <a:t>M</a:t>
            </a:r>
            <a:r>
              <a:rPr sz="1000" b="1">
                <a:solidFill>
                  <a:srgbClr val="FBBF24"/>
                </a:solidFill>
                <a:latin typeface="Aptos Display"/>
              </a:rPr>
              <a:t>e</a:t>
            </a:r>
            <a:r>
              <a:rPr sz="1000" b="1">
                <a:solidFill>
                  <a:srgbClr val="3B82F6"/>
                </a:solidFill>
                <a:latin typeface="Aptos Display"/>
              </a:rPr>
              <a:t>L</a:t>
            </a:r>
            <a:r>
              <a:rPr sz="1000" b="1">
                <a:solidFill>
                  <a:srgbClr val="FBBF24"/>
                </a:solidFill>
                <a:latin typeface="Aptos Display"/>
              </a:rPr>
              <a:t>earn</a:t>
            </a:r>
          </a:p>
        </p:txBody>
      </p:sp>
      <p:sp>
        <p:nvSpPr>
          <p:cNvPr id="44" name="TextBox 43"/>
          <p:cNvSpPr txBox="1"/>
          <p:nvPr/>
        </p:nvSpPr>
        <p:spPr>
          <a:xfrm>
            <a:off x="11119104" y="6519672"/>
            <a:ext cx="438912" cy="182880"/>
          </a:xfrm>
          <a:prstGeom prst="rect">
            <a:avLst/>
          </a:prstGeom>
          <a:noFill/>
        </p:spPr>
        <p:txBody>
          <a:bodyPr wrap="none" lIns="0" rIns="0" tIns="0" bIns="0" anchor="t">
            <a:spAutoFit/>
          </a:bodyPr>
          <a:lstStyle/>
          <a:p>
            <a:pPr algn="r">
              <a:lnSpc>
                <a:spcPct val="100000"/>
              </a:lnSpc>
            </a:pPr>
            <a:r>
              <a:rPr sz="900" b="1">
                <a:solidFill>
                  <a:srgbClr val="6F86A0"/>
                </a:solidFill>
                <a:latin typeface="Aptos"/>
              </a:rPr>
              <a:t>03</a:t>
            </a:r>
          </a:p>
        </p:txBody>
      </p:sp>
      <p:sp>
        <p:nvSpPr>
          <p:cNvPr id="45" name="Rectangle 44"/>
          <p:cNvSpPr/>
          <p:nvPr/>
        </p:nvSpPr>
        <p:spPr>
          <a:xfrm>
            <a:off x="2057400" y="6601968"/>
            <a:ext cx="8732520" cy="16459"/>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057400" y="6601968"/>
            <a:ext cx="4366260" cy="1645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TextBox 1"/>
          <p:cNvSpPr txBox="1"/>
          <p:nvPr/>
        </p:nvSpPr>
        <p:spPr>
          <a:xfrm>
            <a:off x="621792" y="438912"/>
            <a:ext cx="10972800" cy="530352"/>
          </a:xfrm>
          <a:prstGeom prst="rect">
            <a:avLst/>
          </a:prstGeom>
          <a:noFill/>
        </p:spPr>
        <p:txBody>
          <a:bodyPr wrap="none" lIns="0" rIns="0" tIns="0" bIns="0" anchor="t">
            <a:spAutoFit/>
          </a:bodyPr>
          <a:lstStyle/>
          <a:p>
            <a:pPr algn="l">
              <a:lnSpc>
                <a:spcPct val="100000"/>
              </a:lnSpc>
            </a:pPr>
            <a:r>
              <a:rPr sz="2700" b="1">
                <a:solidFill>
                  <a:srgbClr val="F8FAFC"/>
                </a:solidFill>
                <a:latin typeface="Aptos Display"/>
              </a:rPr>
              <a:t>The harness makes autonomy trustworthy.</a:t>
            </a:r>
          </a:p>
        </p:txBody>
      </p:sp>
      <p:sp>
        <p:nvSpPr>
          <p:cNvPr id="3" name="TextBox 2"/>
          <p:cNvSpPr txBox="1"/>
          <p:nvPr/>
        </p:nvSpPr>
        <p:spPr>
          <a:xfrm>
            <a:off x="640080" y="1005840"/>
            <a:ext cx="10881360" cy="384048"/>
          </a:xfrm>
          <a:prstGeom prst="rect">
            <a:avLst/>
          </a:prstGeom>
          <a:noFill/>
        </p:spPr>
        <p:txBody>
          <a:bodyPr wrap="none" lIns="0" rIns="0" tIns="0" bIns="0" anchor="t">
            <a:spAutoFit/>
          </a:bodyPr>
          <a:lstStyle/>
          <a:p>
            <a:pPr algn="l">
              <a:lnSpc>
                <a:spcPct val="100000"/>
              </a:lnSpc>
            </a:pPr>
            <a:r>
              <a:rPr sz="1200" b="0">
                <a:solidFill>
                  <a:srgbClr val="A9B8C9"/>
                </a:solidFill>
                <a:latin typeface="Aptos"/>
              </a:rPr>
              <a:t>The model proposes experiments; the surrounding system owns truth, limits, and memory.</a:t>
            </a:r>
          </a:p>
        </p:txBody>
      </p:sp>
      <p:sp>
        <p:nvSpPr>
          <p:cNvPr id="4" name="TextBox 3"/>
          <p:cNvSpPr txBox="1"/>
          <p:nvPr/>
        </p:nvSpPr>
        <p:spPr>
          <a:xfrm>
            <a:off x="640080" y="1536192"/>
            <a:ext cx="6217920" cy="201168"/>
          </a:xfrm>
          <a:prstGeom prst="rect">
            <a:avLst/>
          </a:prstGeom>
          <a:noFill/>
        </p:spPr>
        <p:txBody>
          <a:bodyPr wrap="none" lIns="0" rIns="0" tIns="0" bIns="0" anchor="t">
            <a:spAutoFit/>
          </a:bodyPr>
          <a:lstStyle/>
          <a:p>
            <a:pPr algn="l">
              <a:lnSpc>
                <a:spcPct val="100000"/>
              </a:lnSpc>
            </a:pPr>
            <a:r>
              <a:rPr sz="900" b="1">
                <a:solidFill>
                  <a:srgbClr val="FBBF24"/>
                </a:solidFill>
                <a:latin typeface="Aptos"/>
              </a:rPr>
              <a:t>THE CLOSED RESEARCH LOOP</a:t>
            </a:r>
          </a:p>
        </p:txBody>
      </p:sp>
      <p:sp>
        <p:nvSpPr>
          <p:cNvPr id="5" name="Rounded Rectangle 4"/>
          <p:cNvSpPr/>
          <p:nvPr/>
        </p:nvSpPr>
        <p:spPr>
          <a:xfrm>
            <a:off x="640080" y="1874519"/>
            <a:ext cx="1993392"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79"/>
            <a:ext cx="274320" cy="164592"/>
          </a:xfrm>
          <a:prstGeom prst="rect">
            <a:avLst/>
          </a:prstGeom>
          <a:noFill/>
        </p:spPr>
        <p:txBody>
          <a:bodyPr wrap="none" lIns="0" rIns="0" tIns="0" bIns="0" anchor="t">
            <a:spAutoFit/>
          </a:bodyPr>
          <a:lstStyle/>
          <a:p>
            <a:pPr algn="l">
              <a:lnSpc>
                <a:spcPct val="100000"/>
              </a:lnSpc>
            </a:pPr>
            <a:r>
              <a:rPr sz="800" b="1">
                <a:solidFill>
                  <a:srgbClr val="FBBF24"/>
                </a:solidFill>
                <a:latin typeface="Aptos"/>
              </a:rPr>
              <a:t>01</a:t>
            </a:r>
          </a:p>
        </p:txBody>
      </p:sp>
      <p:sp>
        <p:nvSpPr>
          <p:cNvPr id="7" name="TextBox 6"/>
          <p:cNvSpPr txBox="1"/>
          <p:nvPr/>
        </p:nvSpPr>
        <p:spPr>
          <a:xfrm>
            <a:off x="1115568" y="1993391"/>
            <a:ext cx="1353312" cy="210312"/>
          </a:xfrm>
          <a:prstGeom prst="rect">
            <a:avLst/>
          </a:prstGeom>
          <a:noFill/>
        </p:spPr>
        <p:txBody>
          <a:bodyPr wrap="none" lIns="0" rIns="0" tIns="0" bIns="0" anchor="t">
            <a:spAutoFit/>
          </a:bodyPr>
          <a:lstStyle/>
          <a:p>
            <a:pPr algn="l">
              <a:lnSpc>
                <a:spcPct val="100000"/>
              </a:lnSpc>
            </a:pPr>
            <a:r>
              <a:rPr sz="1100" b="1">
                <a:solidFill>
                  <a:srgbClr val="F8FAFC"/>
                </a:solidFill>
                <a:latin typeface="Aptos Display"/>
              </a:rPr>
              <a:t>Ledger</a:t>
            </a:r>
          </a:p>
        </p:txBody>
      </p:sp>
      <p:sp>
        <p:nvSpPr>
          <p:cNvPr id="8" name="TextBox 7"/>
          <p:cNvSpPr txBox="1"/>
          <p:nvPr/>
        </p:nvSpPr>
        <p:spPr>
          <a:xfrm>
            <a:off x="777240" y="2331720"/>
            <a:ext cx="1691640" cy="310896"/>
          </a:xfrm>
          <a:prstGeom prst="rect">
            <a:avLst/>
          </a:prstGeom>
          <a:noFill/>
        </p:spPr>
        <p:txBody>
          <a:bodyPr wrap="none" lIns="0" rIns="0" tIns="0" bIns="0" anchor="t">
            <a:spAutoFit/>
          </a:bodyPr>
          <a:lstStyle/>
          <a:p>
            <a:pPr algn="l">
              <a:lnSpc>
                <a:spcPct val="100000"/>
              </a:lnSpc>
            </a:pPr>
            <a:r>
              <a:rPr sz="869" b="0">
                <a:solidFill>
                  <a:srgbClr val="A9B8C9"/>
                </a:solidFill>
                <a:latin typeface="Aptos"/>
              </a:rPr>
              <a:t>Persistent run memory</a:t>
            </a:r>
          </a:p>
        </p:txBody>
      </p:sp>
      <p:sp>
        <p:nvSpPr>
          <p:cNvPr id="9" name="Rounded Rectangle 8"/>
          <p:cNvSpPr/>
          <p:nvPr/>
        </p:nvSpPr>
        <p:spPr>
          <a:xfrm>
            <a:off x="2779776" y="1874519"/>
            <a:ext cx="1993392"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16936" y="2011679"/>
            <a:ext cx="274320" cy="164592"/>
          </a:xfrm>
          <a:prstGeom prst="rect">
            <a:avLst/>
          </a:prstGeom>
          <a:noFill/>
        </p:spPr>
        <p:txBody>
          <a:bodyPr wrap="none" lIns="0" rIns="0" tIns="0" bIns="0" anchor="t">
            <a:spAutoFit/>
          </a:bodyPr>
          <a:lstStyle/>
          <a:p>
            <a:pPr algn="l">
              <a:lnSpc>
                <a:spcPct val="100000"/>
              </a:lnSpc>
            </a:pPr>
            <a:r>
              <a:rPr sz="800" b="1">
                <a:solidFill>
                  <a:srgbClr val="3B82F6"/>
                </a:solidFill>
                <a:latin typeface="Aptos"/>
              </a:rPr>
              <a:t>02</a:t>
            </a:r>
          </a:p>
        </p:txBody>
      </p:sp>
      <p:sp>
        <p:nvSpPr>
          <p:cNvPr id="11" name="TextBox 10"/>
          <p:cNvSpPr txBox="1"/>
          <p:nvPr/>
        </p:nvSpPr>
        <p:spPr>
          <a:xfrm>
            <a:off x="3255264" y="1993391"/>
            <a:ext cx="1353312" cy="210312"/>
          </a:xfrm>
          <a:prstGeom prst="rect">
            <a:avLst/>
          </a:prstGeom>
          <a:noFill/>
        </p:spPr>
        <p:txBody>
          <a:bodyPr wrap="none" lIns="0" rIns="0" tIns="0" bIns="0" anchor="t">
            <a:spAutoFit/>
          </a:bodyPr>
          <a:lstStyle/>
          <a:p>
            <a:pPr algn="l">
              <a:lnSpc>
                <a:spcPct val="100000"/>
              </a:lnSpc>
            </a:pPr>
            <a:r>
              <a:rPr sz="1100" b="1">
                <a:solidFill>
                  <a:srgbClr val="F8FAFC"/>
                </a:solidFill>
                <a:latin typeface="Aptos Display"/>
              </a:rPr>
              <a:t>UCT select</a:t>
            </a:r>
          </a:p>
        </p:txBody>
      </p:sp>
      <p:sp>
        <p:nvSpPr>
          <p:cNvPr id="12" name="TextBox 11"/>
          <p:cNvSpPr txBox="1"/>
          <p:nvPr/>
        </p:nvSpPr>
        <p:spPr>
          <a:xfrm>
            <a:off x="2916936" y="2331720"/>
            <a:ext cx="1691640" cy="310896"/>
          </a:xfrm>
          <a:prstGeom prst="rect">
            <a:avLst/>
          </a:prstGeom>
          <a:noFill/>
        </p:spPr>
        <p:txBody>
          <a:bodyPr wrap="none" lIns="0" rIns="0" tIns="0" bIns="0" anchor="t">
            <a:spAutoFit/>
          </a:bodyPr>
          <a:lstStyle/>
          <a:p>
            <a:pPr algn="l">
              <a:lnSpc>
                <a:spcPct val="100000"/>
              </a:lnSpc>
            </a:pPr>
            <a:r>
              <a:rPr sz="869" b="0">
                <a:solidFill>
                  <a:srgbClr val="A9B8C9"/>
                </a:solidFill>
                <a:latin typeface="Aptos"/>
              </a:rPr>
              <a:t>Explore or exploit</a:t>
            </a:r>
          </a:p>
        </p:txBody>
      </p:sp>
      <p:sp>
        <p:nvSpPr>
          <p:cNvPr id="13" name="Rounded Rectangle 12"/>
          <p:cNvSpPr/>
          <p:nvPr/>
        </p:nvSpPr>
        <p:spPr>
          <a:xfrm>
            <a:off x="4919472" y="1874519"/>
            <a:ext cx="1993392"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56632" y="2011679"/>
            <a:ext cx="274320" cy="164592"/>
          </a:xfrm>
          <a:prstGeom prst="rect">
            <a:avLst/>
          </a:prstGeom>
          <a:noFill/>
        </p:spPr>
        <p:txBody>
          <a:bodyPr wrap="none" lIns="0" rIns="0" tIns="0" bIns="0" anchor="t">
            <a:spAutoFit/>
          </a:bodyPr>
          <a:lstStyle/>
          <a:p>
            <a:pPr algn="l">
              <a:lnSpc>
                <a:spcPct val="100000"/>
              </a:lnSpc>
            </a:pPr>
            <a:r>
              <a:rPr sz="800" b="1">
                <a:solidFill>
                  <a:srgbClr val="3B82F6"/>
                </a:solidFill>
                <a:latin typeface="Aptos"/>
              </a:rPr>
              <a:t>03</a:t>
            </a:r>
          </a:p>
        </p:txBody>
      </p:sp>
      <p:sp>
        <p:nvSpPr>
          <p:cNvPr id="15" name="TextBox 14"/>
          <p:cNvSpPr txBox="1"/>
          <p:nvPr/>
        </p:nvSpPr>
        <p:spPr>
          <a:xfrm>
            <a:off x="5394960" y="1993391"/>
            <a:ext cx="1353312" cy="210312"/>
          </a:xfrm>
          <a:prstGeom prst="rect">
            <a:avLst/>
          </a:prstGeom>
          <a:noFill/>
        </p:spPr>
        <p:txBody>
          <a:bodyPr wrap="none" lIns="0" rIns="0" tIns="0" bIns="0" anchor="t">
            <a:spAutoFit/>
          </a:bodyPr>
          <a:lstStyle/>
          <a:p>
            <a:pPr algn="l">
              <a:lnSpc>
                <a:spcPct val="100000"/>
              </a:lnSpc>
            </a:pPr>
            <a:r>
              <a:rPr sz="1100" b="1">
                <a:solidFill>
                  <a:srgbClr val="F8FAFC"/>
                </a:solidFill>
                <a:latin typeface="Aptos Display"/>
              </a:rPr>
              <a:t>Hypothesis</a:t>
            </a:r>
          </a:p>
        </p:txBody>
      </p:sp>
      <p:sp>
        <p:nvSpPr>
          <p:cNvPr id="16" name="TextBox 15"/>
          <p:cNvSpPr txBox="1"/>
          <p:nvPr/>
        </p:nvSpPr>
        <p:spPr>
          <a:xfrm>
            <a:off x="5056632" y="2331720"/>
            <a:ext cx="1691640" cy="310896"/>
          </a:xfrm>
          <a:prstGeom prst="rect">
            <a:avLst/>
          </a:prstGeom>
          <a:noFill/>
        </p:spPr>
        <p:txBody>
          <a:bodyPr wrap="none" lIns="0" rIns="0" tIns="0" bIns="0" anchor="t">
            <a:spAutoFit/>
          </a:bodyPr>
          <a:lstStyle/>
          <a:p>
            <a:pPr algn="l">
              <a:lnSpc>
                <a:spcPct val="100000"/>
              </a:lnSpc>
            </a:pPr>
            <a:r>
              <a:rPr sz="869" b="0">
                <a:solidFill>
                  <a:srgbClr val="A9B8C9"/>
                </a:solidFill>
                <a:latin typeface="Aptos"/>
              </a:rPr>
              <a:t>State the next idea</a:t>
            </a:r>
          </a:p>
        </p:txBody>
      </p:sp>
      <p:sp>
        <p:nvSpPr>
          <p:cNvPr id="17" name="Rounded Rectangle 16"/>
          <p:cNvSpPr/>
          <p:nvPr/>
        </p:nvSpPr>
        <p:spPr>
          <a:xfrm>
            <a:off x="4919472" y="3264408"/>
            <a:ext cx="1993392"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6632" y="3401568"/>
            <a:ext cx="274320" cy="164592"/>
          </a:xfrm>
          <a:prstGeom prst="rect">
            <a:avLst/>
          </a:prstGeom>
          <a:noFill/>
        </p:spPr>
        <p:txBody>
          <a:bodyPr wrap="none" lIns="0" rIns="0" tIns="0" bIns="0" anchor="t">
            <a:spAutoFit/>
          </a:bodyPr>
          <a:lstStyle/>
          <a:p>
            <a:pPr algn="l">
              <a:lnSpc>
                <a:spcPct val="100000"/>
              </a:lnSpc>
            </a:pPr>
            <a:r>
              <a:rPr sz="800" b="1">
                <a:solidFill>
                  <a:srgbClr val="3B82F6"/>
                </a:solidFill>
                <a:latin typeface="Aptos"/>
              </a:rPr>
              <a:t>04</a:t>
            </a:r>
          </a:p>
        </p:txBody>
      </p:sp>
      <p:sp>
        <p:nvSpPr>
          <p:cNvPr id="19" name="TextBox 18"/>
          <p:cNvSpPr txBox="1"/>
          <p:nvPr/>
        </p:nvSpPr>
        <p:spPr>
          <a:xfrm>
            <a:off x="5394960" y="3383279"/>
            <a:ext cx="1353312" cy="210312"/>
          </a:xfrm>
          <a:prstGeom prst="rect">
            <a:avLst/>
          </a:prstGeom>
          <a:noFill/>
        </p:spPr>
        <p:txBody>
          <a:bodyPr wrap="none" lIns="0" rIns="0" tIns="0" bIns="0" anchor="t">
            <a:spAutoFit/>
          </a:bodyPr>
          <a:lstStyle/>
          <a:p>
            <a:pPr algn="l">
              <a:lnSpc>
                <a:spcPct val="100000"/>
              </a:lnSpc>
            </a:pPr>
            <a:r>
              <a:rPr sz="1100" b="1">
                <a:solidFill>
                  <a:srgbClr val="F8FAFC"/>
                </a:solidFill>
                <a:latin typeface="Aptos Display"/>
              </a:rPr>
              <a:t>Write</a:t>
            </a:r>
          </a:p>
        </p:txBody>
      </p:sp>
      <p:sp>
        <p:nvSpPr>
          <p:cNvPr id="20" name="TextBox 19"/>
          <p:cNvSpPr txBox="1"/>
          <p:nvPr/>
        </p:nvSpPr>
        <p:spPr>
          <a:xfrm>
            <a:off x="5056632" y="3721608"/>
            <a:ext cx="1691640" cy="310896"/>
          </a:xfrm>
          <a:prstGeom prst="rect">
            <a:avLst/>
          </a:prstGeom>
          <a:noFill/>
        </p:spPr>
        <p:txBody>
          <a:bodyPr wrap="none" lIns="0" rIns="0" tIns="0" bIns="0" anchor="t">
            <a:spAutoFit/>
          </a:bodyPr>
          <a:lstStyle/>
          <a:p>
            <a:pPr algn="l">
              <a:lnSpc>
                <a:spcPct val="100000"/>
              </a:lnSpc>
            </a:pPr>
            <a:r>
              <a:rPr sz="869" b="0">
                <a:solidFill>
                  <a:srgbClr val="A9B8C9"/>
                </a:solidFill>
                <a:latin typeface="Aptos"/>
              </a:rPr>
              <a:t>Complete Python solution</a:t>
            </a:r>
          </a:p>
        </p:txBody>
      </p:sp>
      <p:sp>
        <p:nvSpPr>
          <p:cNvPr id="21" name="Rounded Rectangle 20"/>
          <p:cNvSpPr/>
          <p:nvPr/>
        </p:nvSpPr>
        <p:spPr>
          <a:xfrm>
            <a:off x="2779776" y="3264408"/>
            <a:ext cx="1993392"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16936" y="3401568"/>
            <a:ext cx="274320" cy="164592"/>
          </a:xfrm>
          <a:prstGeom prst="rect">
            <a:avLst/>
          </a:prstGeom>
          <a:noFill/>
        </p:spPr>
        <p:txBody>
          <a:bodyPr wrap="none" lIns="0" rIns="0" tIns="0" bIns="0" anchor="t">
            <a:spAutoFit/>
          </a:bodyPr>
          <a:lstStyle/>
          <a:p>
            <a:pPr algn="l">
              <a:lnSpc>
                <a:spcPct val="100000"/>
              </a:lnSpc>
            </a:pPr>
            <a:r>
              <a:rPr sz="800" b="1">
                <a:solidFill>
                  <a:srgbClr val="34D399"/>
                </a:solidFill>
                <a:latin typeface="Aptos"/>
              </a:rPr>
              <a:t>05</a:t>
            </a:r>
          </a:p>
        </p:txBody>
      </p:sp>
      <p:sp>
        <p:nvSpPr>
          <p:cNvPr id="23" name="TextBox 22"/>
          <p:cNvSpPr txBox="1"/>
          <p:nvPr/>
        </p:nvSpPr>
        <p:spPr>
          <a:xfrm>
            <a:off x="3255264" y="3383279"/>
            <a:ext cx="1353312" cy="210312"/>
          </a:xfrm>
          <a:prstGeom prst="rect">
            <a:avLst/>
          </a:prstGeom>
          <a:noFill/>
        </p:spPr>
        <p:txBody>
          <a:bodyPr wrap="none" lIns="0" rIns="0" tIns="0" bIns="0" anchor="t">
            <a:spAutoFit/>
          </a:bodyPr>
          <a:lstStyle/>
          <a:p>
            <a:pPr algn="l">
              <a:lnSpc>
                <a:spcPct val="100000"/>
              </a:lnSpc>
            </a:pPr>
            <a:r>
              <a:rPr sz="1100" b="1">
                <a:solidFill>
                  <a:srgbClr val="F8FAFC"/>
                </a:solidFill>
                <a:latin typeface="Aptos Display"/>
              </a:rPr>
              <a:t>Evaluate</a:t>
            </a:r>
          </a:p>
        </p:txBody>
      </p:sp>
      <p:sp>
        <p:nvSpPr>
          <p:cNvPr id="24" name="TextBox 23"/>
          <p:cNvSpPr txBox="1"/>
          <p:nvPr/>
        </p:nvSpPr>
        <p:spPr>
          <a:xfrm>
            <a:off x="2916936" y="3721608"/>
            <a:ext cx="1691640" cy="310896"/>
          </a:xfrm>
          <a:prstGeom prst="rect">
            <a:avLst/>
          </a:prstGeom>
          <a:noFill/>
        </p:spPr>
        <p:txBody>
          <a:bodyPr wrap="none" lIns="0" rIns="0" tIns="0" bIns="0" anchor="t">
            <a:spAutoFit/>
          </a:bodyPr>
          <a:lstStyle/>
          <a:p>
            <a:pPr algn="l">
              <a:lnSpc>
                <a:spcPct val="100000"/>
              </a:lnSpc>
            </a:pPr>
            <a:r>
              <a:rPr sz="869" b="0">
                <a:solidFill>
                  <a:srgbClr val="A9B8C9"/>
                </a:solidFill>
                <a:latin typeface="Aptos"/>
              </a:rPr>
              <a:t>Official metric · 3 seeds</a:t>
            </a:r>
          </a:p>
        </p:txBody>
      </p:sp>
      <p:sp>
        <p:nvSpPr>
          <p:cNvPr id="25" name="Rounded Rectangle 24"/>
          <p:cNvSpPr/>
          <p:nvPr/>
        </p:nvSpPr>
        <p:spPr>
          <a:xfrm>
            <a:off x="640080" y="3264408"/>
            <a:ext cx="1993392" cy="932688"/>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401568"/>
            <a:ext cx="274320" cy="164592"/>
          </a:xfrm>
          <a:prstGeom prst="rect">
            <a:avLst/>
          </a:prstGeom>
          <a:noFill/>
        </p:spPr>
        <p:txBody>
          <a:bodyPr wrap="none" lIns="0" rIns="0" tIns="0" bIns="0" anchor="t">
            <a:spAutoFit/>
          </a:bodyPr>
          <a:lstStyle/>
          <a:p>
            <a:pPr algn="l">
              <a:lnSpc>
                <a:spcPct val="100000"/>
              </a:lnSpc>
            </a:pPr>
            <a:r>
              <a:rPr sz="800" b="1">
                <a:solidFill>
                  <a:srgbClr val="FBBF24"/>
                </a:solidFill>
                <a:latin typeface="Aptos"/>
              </a:rPr>
              <a:t>06</a:t>
            </a:r>
          </a:p>
        </p:txBody>
      </p:sp>
      <p:sp>
        <p:nvSpPr>
          <p:cNvPr id="27" name="TextBox 26"/>
          <p:cNvSpPr txBox="1"/>
          <p:nvPr/>
        </p:nvSpPr>
        <p:spPr>
          <a:xfrm>
            <a:off x="1115568" y="3383279"/>
            <a:ext cx="1353312" cy="210312"/>
          </a:xfrm>
          <a:prstGeom prst="rect">
            <a:avLst/>
          </a:prstGeom>
          <a:noFill/>
        </p:spPr>
        <p:txBody>
          <a:bodyPr wrap="none" lIns="0" rIns="0" tIns="0" bIns="0" anchor="t">
            <a:spAutoFit/>
          </a:bodyPr>
          <a:lstStyle/>
          <a:p>
            <a:pPr algn="l">
              <a:lnSpc>
                <a:spcPct val="100000"/>
              </a:lnSpc>
            </a:pPr>
            <a:r>
              <a:rPr sz="1100" b="1">
                <a:solidFill>
                  <a:srgbClr val="F8FAFC"/>
                </a:solidFill>
                <a:latin typeface="Aptos Display"/>
              </a:rPr>
              <a:t>Verdict</a:t>
            </a:r>
          </a:p>
        </p:txBody>
      </p:sp>
      <p:sp>
        <p:nvSpPr>
          <p:cNvPr id="28" name="TextBox 27"/>
          <p:cNvSpPr txBox="1"/>
          <p:nvPr/>
        </p:nvSpPr>
        <p:spPr>
          <a:xfrm>
            <a:off x="777240" y="3721608"/>
            <a:ext cx="1691640" cy="310896"/>
          </a:xfrm>
          <a:prstGeom prst="rect">
            <a:avLst/>
          </a:prstGeom>
          <a:noFill/>
        </p:spPr>
        <p:txBody>
          <a:bodyPr wrap="none" lIns="0" rIns="0" tIns="0" bIns="0" anchor="t">
            <a:spAutoFit/>
          </a:bodyPr>
          <a:lstStyle/>
          <a:p>
            <a:pPr algn="l">
              <a:lnSpc>
                <a:spcPct val="100000"/>
              </a:lnSpc>
            </a:pPr>
            <a:r>
              <a:rPr sz="869" b="0">
                <a:solidFill>
                  <a:srgbClr val="A9B8C9"/>
                </a:solidFill>
                <a:latin typeface="Aptos"/>
              </a:rPr>
              <a:t>Keep, reject, or branch</a:t>
            </a:r>
          </a:p>
        </p:txBody>
      </p:sp>
      <p:sp>
        <p:nvSpPr>
          <p:cNvPr id="29" name="TextBox 28"/>
          <p:cNvSpPr txBox="1"/>
          <p:nvPr/>
        </p:nvSpPr>
        <p:spPr>
          <a:xfrm>
            <a:off x="2514600" y="2157984"/>
            <a:ext cx="274320" cy="320040"/>
          </a:xfrm>
          <a:prstGeom prst="rect">
            <a:avLst/>
          </a:prstGeom>
          <a:noFill/>
        </p:spPr>
        <p:txBody>
          <a:bodyPr wrap="none" lIns="0" rIns="0" tIns="0" bIns="0" anchor="t">
            <a:spAutoFit/>
          </a:bodyPr>
          <a:lstStyle/>
          <a:p>
            <a:pPr algn="ctr">
              <a:lnSpc>
                <a:spcPct val="100000"/>
              </a:lnSpc>
            </a:pPr>
            <a:r>
              <a:rPr sz="2000" b="1">
                <a:solidFill>
                  <a:srgbClr val="3B82F6"/>
                </a:solidFill>
                <a:latin typeface="Aptos"/>
              </a:rPr>
              <a:t>&gt;</a:t>
            </a:r>
          </a:p>
        </p:txBody>
      </p:sp>
      <p:sp>
        <p:nvSpPr>
          <p:cNvPr id="30" name="TextBox 29"/>
          <p:cNvSpPr txBox="1"/>
          <p:nvPr/>
        </p:nvSpPr>
        <p:spPr>
          <a:xfrm>
            <a:off x="4654296" y="2157984"/>
            <a:ext cx="274320" cy="320040"/>
          </a:xfrm>
          <a:prstGeom prst="rect">
            <a:avLst/>
          </a:prstGeom>
          <a:noFill/>
        </p:spPr>
        <p:txBody>
          <a:bodyPr wrap="none" lIns="0" rIns="0" tIns="0" bIns="0" anchor="t">
            <a:spAutoFit/>
          </a:bodyPr>
          <a:lstStyle/>
          <a:p>
            <a:pPr algn="ctr">
              <a:lnSpc>
                <a:spcPct val="100000"/>
              </a:lnSpc>
            </a:pPr>
            <a:r>
              <a:rPr sz="2000" b="1">
                <a:solidFill>
                  <a:srgbClr val="3B82F6"/>
                </a:solidFill>
                <a:latin typeface="Aptos"/>
              </a:rPr>
              <a:t>&gt;</a:t>
            </a:r>
          </a:p>
        </p:txBody>
      </p:sp>
      <p:sp>
        <p:nvSpPr>
          <p:cNvPr id="31" name="TextBox 30"/>
          <p:cNvSpPr txBox="1"/>
          <p:nvPr/>
        </p:nvSpPr>
        <p:spPr>
          <a:xfrm>
            <a:off x="5742432" y="2916936"/>
            <a:ext cx="274320" cy="228600"/>
          </a:xfrm>
          <a:prstGeom prst="rect">
            <a:avLst/>
          </a:prstGeom>
          <a:noFill/>
        </p:spPr>
        <p:txBody>
          <a:bodyPr wrap="none" lIns="0" rIns="0" tIns="0" bIns="0" anchor="t">
            <a:spAutoFit/>
          </a:bodyPr>
          <a:lstStyle/>
          <a:p>
            <a:pPr algn="ctr">
              <a:lnSpc>
                <a:spcPct val="100000"/>
              </a:lnSpc>
            </a:pPr>
            <a:r>
              <a:rPr sz="1600" b="1">
                <a:solidFill>
                  <a:srgbClr val="3B82F6"/>
                </a:solidFill>
                <a:latin typeface="Aptos"/>
              </a:rPr>
              <a:t>v</a:t>
            </a:r>
          </a:p>
        </p:txBody>
      </p:sp>
      <p:sp>
        <p:nvSpPr>
          <p:cNvPr id="32" name="TextBox 31"/>
          <p:cNvSpPr txBox="1"/>
          <p:nvPr/>
        </p:nvSpPr>
        <p:spPr>
          <a:xfrm>
            <a:off x="4599432" y="3547872"/>
            <a:ext cx="274320" cy="228600"/>
          </a:xfrm>
          <a:prstGeom prst="rect">
            <a:avLst/>
          </a:prstGeom>
          <a:noFill/>
        </p:spPr>
        <p:txBody>
          <a:bodyPr wrap="none" lIns="0" rIns="0" tIns="0" bIns="0" anchor="t">
            <a:spAutoFit/>
          </a:bodyPr>
          <a:lstStyle/>
          <a:p>
            <a:pPr algn="ctr">
              <a:lnSpc>
                <a:spcPct val="100000"/>
              </a:lnSpc>
            </a:pPr>
            <a:r>
              <a:rPr sz="2000" b="1">
                <a:solidFill>
                  <a:srgbClr val="3B82F6"/>
                </a:solidFill>
                <a:latin typeface="Aptos"/>
              </a:rPr>
              <a:t>&lt;</a:t>
            </a:r>
          </a:p>
        </p:txBody>
      </p:sp>
      <p:sp>
        <p:nvSpPr>
          <p:cNvPr id="33" name="TextBox 32"/>
          <p:cNvSpPr txBox="1"/>
          <p:nvPr/>
        </p:nvSpPr>
        <p:spPr>
          <a:xfrm>
            <a:off x="2459736" y="3547872"/>
            <a:ext cx="274320" cy="228600"/>
          </a:xfrm>
          <a:prstGeom prst="rect">
            <a:avLst/>
          </a:prstGeom>
          <a:noFill/>
        </p:spPr>
        <p:txBody>
          <a:bodyPr wrap="none" lIns="0" rIns="0" tIns="0" bIns="0" anchor="t">
            <a:spAutoFit/>
          </a:bodyPr>
          <a:lstStyle/>
          <a:p>
            <a:pPr algn="ctr">
              <a:lnSpc>
                <a:spcPct val="100000"/>
              </a:lnSpc>
            </a:pPr>
            <a:r>
              <a:rPr sz="2000" b="1">
                <a:solidFill>
                  <a:srgbClr val="3B82F6"/>
                </a:solidFill>
                <a:latin typeface="Aptos"/>
              </a:rPr>
              <a:t>&lt;</a:t>
            </a:r>
          </a:p>
        </p:txBody>
      </p:sp>
      <p:sp>
        <p:nvSpPr>
          <p:cNvPr id="34" name="TextBox 33"/>
          <p:cNvSpPr txBox="1"/>
          <p:nvPr/>
        </p:nvSpPr>
        <p:spPr>
          <a:xfrm>
            <a:off x="1490472" y="2916936"/>
            <a:ext cx="274320" cy="228600"/>
          </a:xfrm>
          <a:prstGeom prst="rect">
            <a:avLst/>
          </a:prstGeom>
          <a:noFill/>
        </p:spPr>
        <p:txBody>
          <a:bodyPr wrap="none" lIns="0" rIns="0" tIns="0" bIns="0" anchor="t">
            <a:spAutoFit/>
          </a:bodyPr>
          <a:lstStyle/>
          <a:p>
            <a:pPr algn="ctr">
              <a:lnSpc>
                <a:spcPct val="100000"/>
              </a:lnSpc>
            </a:pPr>
            <a:r>
              <a:rPr sz="1600" b="1">
                <a:solidFill>
                  <a:srgbClr val="FBBF24"/>
                </a:solidFill>
                <a:latin typeface="Aptos"/>
              </a:rPr>
              <a:t>^</a:t>
            </a:r>
          </a:p>
        </p:txBody>
      </p:sp>
      <p:sp>
        <p:nvSpPr>
          <p:cNvPr id="35" name="Rounded Rectangle 34"/>
          <p:cNvSpPr/>
          <p:nvPr/>
        </p:nvSpPr>
        <p:spPr>
          <a:xfrm>
            <a:off x="640080" y="4617720"/>
            <a:ext cx="6272784" cy="75895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828032"/>
            <a:ext cx="5733288" cy="256032"/>
          </a:xfrm>
          <a:prstGeom prst="rect">
            <a:avLst/>
          </a:prstGeom>
          <a:noFill/>
        </p:spPr>
        <p:txBody>
          <a:bodyPr wrap="none" lIns="0" rIns="0" tIns="0" bIns="0" anchor="t">
            <a:spAutoFit/>
          </a:bodyPr>
          <a:lstStyle/>
          <a:p>
            <a:pPr algn="ctr"/>
            <a:r>
              <a:rPr sz="1300" b="1">
                <a:solidFill>
                  <a:srgbClr val="FBBF24"/>
                </a:solidFill>
                <a:latin typeface="Aptos Display"/>
              </a:rPr>
              <a:t>The ledger is the memory. </a:t>
            </a:r>
            <a:r>
              <a:rPr sz="1300" b="1">
                <a:solidFill>
                  <a:srgbClr val="F8FAFC"/>
                </a:solidFill>
                <a:latin typeface="Aptos Display"/>
              </a:rPr>
              <a:t>The model starts every turn clean.</a:t>
            </a:r>
          </a:p>
        </p:txBody>
      </p:sp>
      <p:sp>
        <p:nvSpPr>
          <p:cNvPr id="37" name="TextBox 36"/>
          <p:cNvSpPr txBox="1"/>
          <p:nvPr/>
        </p:nvSpPr>
        <p:spPr>
          <a:xfrm>
            <a:off x="932688" y="5120640"/>
            <a:ext cx="5650992" cy="182880"/>
          </a:xfrm>
          <a:prstGeom prst="rect">
            <a:avLst/>
          </a:prstGeom>
          <a:noFill/>
        </p:spPr>
        <p:txBody>
          <a:bodyPr wrap="none" lIns="0" rIns="0" tIns="0" bIns="0" anchor="t">
            <a:spAutoFit/>
          </a:bodyPr>
          <a:lstStyle/>
          <a:p>
            <a:pPr algn="ctr">
              <a:lnSpc>
                <a:spcPct val="100000"/>
              </a:lnSpc>
            </a:pPr>
            <a:r>
              <a:rPr sz="900" b="0">
                <a:solidFill>
                  <a:srgbClr val="A9B8C9"/>
                </a:solidFill>
                <a:latin typeface="Aptos"/>
              </a:rPr>
              <a:t>UCT can return to an idea abandoned twenty iterations ago.</a:t>
            </a:r>
          </a:p>
        </p:txBody>
      </p:sp>
      <p:sp>
        <p:nvSpPr>
          <p:cNvPr id="38" name="Rounded Rectangle 37"/>
          <p:cNvSpPr/>
          <p:nvPr/>
        </p:nvSpPr>
        <p:spPr>
          <a:xfrm>
            <a:off x="7333488" y="1536192"/>
            <a:ext cx="4206240" cy="4489704"/>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35240" y="1810512"/>
            <a:ext cx="3602736" cy="201168"/>
          </a:xfrm>
          <a:prstGeom prst="rect">
            <a:avLst/>
          </a:prstGeom>
          <a:noFill/>
        </p:spPr>
        <p:txBody>
          <a:bodyPr wrap="none" lIns="0" rIns="0" tIns="0" bIns="0" anchor="t">
            <a:spAutoFit/>
          </a:bodyPr>
          <a:lstStyle/>
          <a:p>
            <a:pPr algn="l">
              <a:lnSpc>
                <a:spcPct val="100000"/>
              </a:lnSpc>
            </a:pPr>
            <a:r>
              <a:rPr sz="900" b="1">
                <a:solidFill>
                  <a:srgbClr val="FBBF24"/>
                </a:solidFill>
                <a:latin typeface="Aptos"/>
              </a:rPr>
              <a:t>MECHANICAL GUARDRAILS</a:t>
            </a:r>
          </a:p>
        </p:txBody>
      </p:sp>
      <p:sp>
        <p:nvSpPr>
          <p:cNvPr id="40" name="Rounded Rectangle 39"/>
          <p:cNvSpPr/>
          <p:nvPr/>
        </p:nvSpPr>
        <p:spPr>
          <a:xfrm>
            <a:off x="7635240" y="2267712"/>
            <a:ext cx="658368"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35240" y="2276856"/>
            <a:ext cx="658368" cy="256032"/>
          </a:xfrm>
          <a:prstGeom prst="rect">
            <a:avLst/>
          </a:prstGeom>
          <a:noFill/>
        </p:spPr>
        <p:txBody>
          <a:bodyPr wrap="none" lIns="0" rIns="0" tIns="0" bIns="0" anchor="ctr">
            <a:spAutoFit/>
          </a:bodyPr>
          <a:lstStyle/>
          <a:p>
            <a:pPr algn="ctr">
              <a:lnSpc>
                <a:spcPct val="100000"/>
              </a:lnSpc>
            </a:pPr>
            <a:r>
              <a:rPr sz="750" b="1">
                <a:solidFill>
                  <a:srgbClr val="3B82F6"/>
                </a:solidFill>
                <a:latin typeface="Aptos"/>
              </a:rPr>
              <a:t>TEST</a:t>
            </a:r>
          </a:p>
        </p:txBody>
      </p:sp>
      <p:sp>
        <p:nvSpPr>
          <p:cNvPr id="42" name="TextBox 41"/>
          <p:cNvSpPr txBox="1"/>
          <p:nvPr/>
        </p:nvSpPr>
        <p:spPr>
          <a:xfrm>
            <a:off x="8485632" y="2295144"/>
            <a:ext cx="2706624" cy="256032"/>
          </a:xfrm>
          <a:prstGeom prst="rect">
            <a:avLst/>
          </a:prstGeom>
          <a:noFill/>
        </p:spPr>
        <p:txBody>
          <a:bodyPr wrap="none" lIns="0" rIns="0" tIns="0" bIns="0" anchor="t">
            <a:spAutoFit/>
          </a:bodyPr>
          <a:lstStyle/>
          <a:p>
            <a:pPr algn="l">
              <a:lnSpc>
                <a:spcPct val="100000"/>
              </a:lnSpc>
            </a:pPr>
            <a:r>
              <a:rPr sz="1030" b="1">
                <a:solidFill>
                  <a:srgbClr val="F8FAFC"/>
                </a:solidFill>
                <a:latin typeface="Aptos"/>
              </a:rPr>
              <a:t>Labels are never exposed</a:t>
            </a:r>
          </a:p>
        </p:txBody>
      </p:sp>
      <p:sp>
        <p:nvSpPr>
          <p:cNvPr id="43" name="Rounded Rectangle 42"/>
          <p:cNvSpPr/>
          <p:nvPr/>
        </p:nvSpPr>
        <p:spPr>
          <a:xfrm>
            <a:off x="7635240" y="2907791"/>
            <a:ext cx="658368"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35240" y="2916935"/>
            <a:ext cx="658368" cy="256032"/>
          </a:xfrm>
          <a:prstGeom prst="rect">
            <a:avLst/>
          </a:prstGeom>
          <a:noFill/>
        </p:spPr>
        <p:txBody>
          <a:bodyPr wrap="none" lIns="0" rIns="0" tIns="0" bIns="0" anchor="ctr">
            <a:spAutoFit/>
          </a:bodyPr>
          <a:lstStyle/>
          <a:p>
            <a:pPr algn="ctr">
              <a:lnSpc>
                <a:spcPct val="100000"/>
              </a:lnSpc>
            </a:pPr>
            <a:r>
              <a:rPr sz="750" b="1">
                <a:solidFill>
                  <a:srgbClr val="3B82F6"/>
                </a:solidFill>
                <a:latin typeface="Aptos"/>
              </a:rPr>
              <a:t>SCORE</a:t>
            </a:r>
          </a:p>
        </p:txBody>
      </p:sp>
      <p:sp>
        <p:nvSpPr>
          <p:cNvPr id="45" name="TextBox 44"/>
          <p:cNvSpPr txBox="1"/>
          <p:nvPr/>
        </p:nvSpPr>
        <p:spPr>
          <a:xfrm>
            <a:off x="8485632" y="2935223"/>
            <a:ext cx="2706624" cy="256032"/>
          </a:xfrm>
          <a:prstGeom prst="rect">
            <a:avLst/>
          </a:prstGeom>
          <a:noFill/>
        </p:spPr>
        <p:txBody>
          <a:bodyPr wrap="none" lIns="0" rIns="0" tIns="0" bIns="0" anchor="t">
            <a:spAutoFit/>
          </a:bodyPr>
          <a:lstStyle/>
          <a:p>
            <a:pPr algn="l">
              <a:lnSpc>
                <a:spcPct val="100000"/>
              </a:lnSpc>
            </a:pPr>
            <a:r>
              <a:rPr sz="1030" b="1">
                <a:solidFill>
                  <a:srgbClr val="F8FAFC"/>
                </a:solidFill>
                <a:latin typeface="Aptos"/>
              </a:rPr>
              <a:t>Official evaluator stays read-only</a:t>
            </a:r>
          </a:p>
        </p:txBody>
      </p:sp>
      <p:sp>
        <p:nvSpPr>
          <p:cNvPr id="46" name="Rounded Rectangle 45"/>
          <p:cNvSpPr/>
          <p:nvPr/>
        </p:nvSpPr>
        <p:spPr>
          <a:xfrm>
            <a:off x="7635240" y="3547872"/>
            <a:ext cx="658368"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35240" y="3557015"/>
            <a:ext cx="658368" cy="256032"/>
          </a:xfrm>
          <a:prstGeom prst="rect">
            <a:avLst/>
          </a:prstGeom>
          <a:noFill/>
        </p:spPr>
        <p:txBody>
          <a:bodyPr wrap="none" lIns="0" rIns="0" tIns="0" bIns="0" anchor="ctr">
            <a:spAutoFit/>
          </a:bodyPr>
          <a:lstStyle/>
          <a:p>
            <a:pPr algn="ctr">
              <a:lnSpc>
                <a:spcPct val="100000"/>
              </a:lnSpc>
            </a:pPr>
            <a:r>
              <a:rPr sz="750" b="1">
                <a:solidFill>
                  <a:srgbClr val="3B82F6"/>
                </a:solidFill>
                <a:latin typeface="Aptos"/>
              </a:rPr>
              <a:t>SEEDS</a:t>
            </a:r>
          </a:p>
        </p:txBody>
      </p:sp>
      <p:sp>
        <p:nvSpPr>
          <p:cNvPr id="48" name="TextBox 47"/>
          <p:cNvSpPr txBox="1"/>
          <p:nvPr/>
        </p:nvSpPr>
        <p:spPr>
          <a:xfrm>
            <a:off x="8485632" y="3575303"/>
            <a:ext cx="2706624" cy="256032"/>
          </a:xfrm>
          <a:prstGeom prst="rect">
            <a:avLst/>
          </a:prstGeom>
          <a:noFill/>
        </p:spPr>
        <p:txBody>
          <a:bodyPr wrap="none" lIns="0" rIns="0" tIns="0" bIns="0" anchor="t">
            <a:spAutoFit/>
          </a:bodyPr>
          <a:lstStyle/>
          <a:p>
            <a:pPr algn="l">
              <a:lnSpc>
                <a:spcPct val="100000"/>
              </a:lnSpc>
            </a:pPr>
            <a:r>
              <a:rPr sz="1030" b="0">
                <a:solidFill>
                  <a:srgbClr val="F8FAFC"/>
                </a:solidFill>
                <a:latin typeface="Aptos"/>
              </a:rPr>
              <a:t>Every candidate runs three times</a:t>
            </a:r>
          </a:p>
        </p:txBody>
      </p:sp>
      <p:sp>
        <p:nvSpPr>
          <p:cNvPr id="49" name="Rounded Rectangle 48"/>
          <p:cNvSpPr/>
          <p:nvPr/>
        </p:nvSpPr>
        <p:spPr>
          <a:xfrm>
            <a:off x="7635240" y="4187952"/>
            <a:ext cx="658368"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35240" y="4197096"/>
            <a:ext cx="658368" cy="256032"/>
          </a:xfrm>
          <a:prstGeom prst="rect">
            <a:avLst/>
          </a:prstGeom>
          <a:noFill/>
        </p:spPr>
        <p:txBody>
          <a:bodyPr wrap="none" lIns="0" rIns="0" tIns="0" bIns="0" anchor="ctr">
            <a:spAutoFit/>
          </a:bodyPr>
          <a:lstStyle/>
          <a:p>
            <a:pPr algn="ctr">
              <a:lnSpc>
                <a:spcPct val="100000"/>
              </a:lnSpc>
            </a:pPr>
            <a:r>
              <a:rPr sz="750" b="1">
                <a:solidFill>
                  <a:srgbClr val="3B82F6"/>
                </a:solidFill>
                <a:latin typeface="Aptos"/>
              </a:rPr>
              <a:t>INPUT</a:t>
            </a:r>
          </a:p>
        </p:txBody>
      </p:sp>
      <p:sp>
        <p:nvSpPr>
          <p:cNvPr id="51" name="TextBox 50"/>
          <p:cNvSpPr txBox="1"/>
          <p:nvPr/>
        </p:nvSpPr>
        <p:spPr>
          <a:xfrm>
            <a:off x="8485632" y="4215384"/>
            <a:ext cx="2706624" cy="256032"/>
          </a:xfrm>
          <a:prstGeom prst="rect">
            <a:avLst/>
          </a:prstGeom>
          <a:noFill/>
        </p:spPr>
        <p:txBody>
          <a:bodyPr wrap="none" lIns="0" rIns="0" tIns="0" bIns="0" anchor="t">
            <a:spAutoFit/>
          </a:bodyPr>
          <a:lstStyle/>
          <a:p>
            <a:pPr algn="l">
              <a:lnSpc>
                <a:spcPct val="100000"/>
              </a:lnSpc>
            </a:pPr>
            <a:r>
              <a:rPr sz="1030" b="0">
                <a:solidFill>
                  <a:srgbClr val="F8FAFC"/>
                </a:solidFill>
                <a:latin typeface="Aptos"/>
              </a:rPr>
              <a:t>Invalid or duplicate outputs are blocked</a:t>
            </a:r>
          </a:p>
        </p:txBody>
      </p:sp>
      <p:sp>
        <p:nvSpPr>
          <p:cNvPr id="52" name="Rounded Rectangle 51"/>
          <p:cNvSpPr/>
          <p:nvPr/>
        </p:nvSpPr>
        <p:spPr>
          <a:xfrm>
            <a:off x="7635240" y="4828031"/>
            <a:ext cx="658368"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635240" y="4837175"/>
            <a:ext cx="658368" cy="256032"/>
          </a:xfrm>
          <a:prstGeom prst="rect">
            <a:avLst/>
          </a:prstGeom>
          <a:noFill/>
        </p:spPr>
        <p:txBody>
          <a:bodyPr wrap="none" lIns="0" rIns="0" tIns="0" bIns="0" anchor="ctr">
            <a:spAutoFit/>
          </a:bodyPr>
          <a:lstStyle/>
          <a:p>
            <a:pPr algn="ctr">
              <a:lnSpc>
                <a:spcPct val="100000"/>
              </a:lnSpc>
            </a:pPr>
            <a:r>
              <a:rPr sz="750" b="1">
                <a:solidFill>
                  <a:srgbClr val="FB7185"/>
                </a:solidFill>
                <a:latin typeface="Aptos"/>
              </a:rPr>
              <a:t>FAIL</a:t>
            </a:r>
          </a:p>
        </p:txBody>
      </p:sp>
      <p:sp>
        <p:nvSpPr>
          <p:cNvPr id="54" name="TextBox 53"/>
          <p:cNvSpPr txBox="1"/>
          <p:nvPr/>
        </p:nvSpPr>
        <p:spPr>
          <a:xfrm>
            <a:off x="8485632" y="4855464"/>
            <a:ext cx="2706624" cy="256032"/>
          </a:xfrm>
          <a:prstGeom prst="rect">
            <a:avLst/>
          </a:prstGeom>
          <a:noFill/>
        </p:spPr>
        <p:txBody>
          <a:bodyPr wrap="none" lIns="0" rIns="0" tIns="0" bIns="0" anchor="t">
            <a:spAutoFit/>
          </a:bodyPr>
          <a:lstStyle/>
          <a:p>
            <a:pPr algn="l">
              <a:lnSpc>
                <a:spcPct val="100000"/>
              </a:lnSpc>
            </a:pPr>
            <a:r>
              <a:rPr sz="1030" b="0">
                <a:solidFill>
                  <a:srgbClr val="F8FAFC"/>
                </a:solidFill>
                <a:latin typeface="Aptos"/>
              </a:rPr>
              <a:t>Crashes return as actionable text</a:t>
            </a:r>
          </a:p>
        </p:txBody>
      </p:sp>
      <p:sp>
        <p:nvSpPr>
          <p:cNvPr id="55" name="Rounded Rectangle 54"/>
          <p:cNvSpPr/>
          <p:nvPr/>
        </p:nvSpPr>
        <p:spPr>
          <a:xfrm>
            <a:off x="7635240" y="5513832"/>
            <a:ext cx="3602736" cy="292608"/>
          </a:xfrm>
          <a:prstGeom prst="roundRect">
            <a:avLst/>
          </a:prstGeom>
          <a:solidFill>
            <a:srgbClr val="183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54112" y="5568696"/>
            <a:ext cx="3364992" cy="146304"/>
          </a:xfrm>
          <a:prstGeom prst="rect">
            <a:avLst/>
          </a:prstGeom>
          <a:noFill/>
        </p:spPr>
        <p:txBody>
          <a:bodyPr wrap="none" lIns="0" rIns="0" tIns="0" bIns="0" anchor="t">
            <a:spAutoFit/>
          </a:bodyPr>
          <a:lstStyle/>
          <a:p>
            <a:pPr algn="ctr">
              <a:lnSpc>
                <a:spcPct val="100000"/>
              </a:lnSpc>
            </a:pPr>
            <a:r>
              <a:rPr sz="800" b="1">
                <a:solidFill>
                  <a:srgbClr val="34D399"/>
                </a:solidFill>
                <a:latin typeface="Aptos"/>
              </a:rPr>
              <a:t>The agent cannot reason around these rules.</a:t>
            </a:r>
          </a:p>
        </p:txBody>
      </p:sp>
      <p:sp>
        <p:nvSpPr>
          <p:cNvPr id="57" name="TextBox 56"/>
          <p:cNvSpPr txBox="1"/>
          <p:nvPr/>
        </p:nvSpPr>
        <p:spPr>
          <a:xfrm>
            <a:off x="621792" y="6528816"/>
            <a:ext cx="1463040" cy="201168"/>
          </a:xfrm>
          <a:prstGeom prst="rect">
            <a:avLst/>
          </a:prstGeom>
          <a:noFill/>
        </p:spPr>
        <p:txBody>
          <a:bodyPr wrap="none" lIns="0" rIns="0" tIns="0" bIns="0" anchor="t">
            <a:spAutoFit/>
          </a:bodyPr>
          <a:lstStyle/>
          <a:p>
            <a:pPr algn="l"/>
            <a:r>
              <a:rPr sz="1000" b="1">
                <a:solidFill>
                  <a:srgbClr val="3B82F6"/>
                </a:solidFill>
                <a:latin typeface="Aptos Display"/>
              </a:rPr>
              <a:t>M</a:t>
            </a:r>
            <a:r>
              <a:rPr sz="1000" b="1">
                <a:solidFill>
                  <a:srgbClr val="FBBF24"/>
                </a:solidFill>
                <a:latin typeface="Aptos Display"/>
              </a:rPr>
              <a:t>e</a:t>
            </a:r>
            <a:r>
              <a:rPr sz="1000" b="1">
                <a:solidFill>
                  <a:srgbClr val="3B82F6"/>
                </a:solidFill>
                <a:latin typeface="Aptos Display"/>
              </a:rPr>
              <a:t>L</a:t>
            </a:r>
            <a:r>
              <a:rPr sz="1000" b="1">
                <a:solidFill>
                  <a:srgbClr val="FBBF24"/>
                </a:solidFill>
                <a:latin typeface="Aptos Display"/>
              </a:rPr>
              <a:t>earn</a:t>
            </a:r>
          </a:p>
        </p:txBody>
      </p:sp>
      <p:sp>
        <p:nvSpPr>
          <p:cNvPr id="58" name="TextBox 57"/>
          <p:cNvSpPr txBox="1"/>
          <p:nvPr/>
        </p:nvSpPr>
        <p:spPr>
          <a:xfrm>
            <a:off x="11119104" y="6519672"/>
            <a:ext cx="438912" cy="182880"/>
          </a:xfrm>
          <a:prstGeom prst="rect">
            <a:avLst/>
          </a:prstGeom>
          <a:noFill/>
        </p:spPr>
        <p:txBody>
          <a:bodyPr wrap="none" lIns="0" rIns="0" tIns="0" bIns="0" anchor="t">
            <a:spAutoFit/>
          </a:bodyPr>
          <a:lstStyle/>
          <a:p>
            <a:pPr algn="r">
              <a:lnSpc>
                <a:spcPct val="100000"/>
              </a:lnSpc>
            </a:pPr>
            <a:r>
              <a:rPr sz="900" b="1">
                <a:solidFill>
                  <a:srgbClr val="6F86A0"/>
                </a:solidFill>
                <a:latin typeface="Aptos"/>
              </a:rPr>
              <a:t>04</a:t>
            </a:r>
          </a:p>
        </p:txBody>
      </p:sp>
      <p:sp>
        <p:nvSpPr>
          <p:cNvPr id="59" name="Rectangle 58"/>
          <p:cNvSpPr/>
          <p:nvPr/>
        </p:nvSpPr>
        <p:spPr>
          <a:xfrm>
            <a:off x="2057400" y="6601968"/>
            <a:ext cx="8732520" cy="16459"/>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057400" y="6601968"/>
            <a:ext cx="5821680" cy="1645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TextBox 1"/>
          <p:cNvSpPr txBox="1"/>
          <p:nvPr/>
        </p:nvSpPr>
        <p:spPr>
          <a:xfrm>
            <a:off x="621792" y="438912"/>
            <a:ext cx="10972800" cy="530352"/>
          </a:xfrm>
          <a:prstGeom prst="rect">
            <a:avLst/>
          </a:prstGeom>
          <a:noFill/>
        </p:spPr>
        <p:txBody>
          <a:bodyPr wrap="none" lIns="0" rIns="0" tIns="0" bIns="0" anchor="t">
            <a:spAutoFit/>
          </a:bodyPr>
          <a:lstStyle/>
          <a:p>
            <a:pPr algn="l">
              <a:lnSpc>
                <a:spcPct val="100000"/>
              </a:lnSpc>
            </a:pPr>
            <a:r>
              <a:rPr sz="2700" b="1">
                <a:solidFill>
                  <a:srgbClr val="F8FAFC"/>
                </a:solidFill>
                <a:latin typeface="Aptos Display"/>
              </a:rPr>
              <a:t>MeLearn cleared the required target.</a:t>
            </a:r>
          </a:p>
        </p:txBody>
      </p:sp>
      <p:sp>
        <p:nvSpPr>
          <p:cNvPr id="3" name="TextBox 2"/>
          <p:cNvSpPr txBox="1"/>
          <p:nvPr/>
        </p:nvSpPr>
        <p:spPr>
          <a:xfrm>
            <a:off x="640080" y="1005840"/>
            <a:ext cx="10881360" cy="384048"/>
          </a:xfrm>
          <a:prstGeom prst="rect">
            <a:avLst/>
          </a:prstGeom>
          <a:noFill/>
        </p:spPr>
        <p:txBody>
          <a:bodyPr wrap="none" lIns="0" rIns="0" tIns="0" bIns="0" anchor="t">
            <a:spAutoFit/>
          </a:bodyPr>
          <a:lstStyle/>
          <a:p>
            <a:pPr algn="l">
              <a:lnSpc>
                <a:spcPct val="100000"/>
              </a:lnSpc>
            </a:pPr>
            <a:r>
              <a:rPr sz="1200" b="0">
                <a:solidFill>
                  <a:srgbClr val="A9B8C9"/>
                </a:solidFill>
                <a:latin typeface="Aptos"/>
              </a:rPr>
              <a:t>Validation-best results · primary score = mean(GAUC, nDCG@5) · official evaluator unmodified</a:t>
            </a:r>
          </a:p>
        </p:txBody>
      </p:sp>
      <p:sp>
        <p:nvSpPr>
          <p:cNvPr id="4" name="Rounded Rectangle 3"/>
          <p:cNvSpPr/>
          <p:nvPr/>
        </p:nvSpPr>
        <p:spPr>
          <a:xfrm>
            <a:off x="621792" y="1554480"/>
            <a:ext cx="5376672" cy="347472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810512"/>
            <a:ext cx="3547872" cy="310896"/>
          </a:xfrm>
          <a:prstGeom prst="rect">
            <a:avLst/>
          </a:prstGeom>
          <a:noFill/>
        </p:spPr>
        <p:txBody>
          <a:bodyPr wrap="none" lIns="0" rIns="0" tIns="0" bIns="0" anchor="t">
            <a:spAutoFit/>
          </a:bodyPr>
          <a:lstStyle/>
          <a:p>
            <a:pPr algn="l">
              <a:lnSpc>
                <a:spcPct val="100000"/>
              </a:lnSpc>
            </a:pPr>
            <a:r>
              <a:rPr sz="1700" b="1">
                <a:solidFill>
                  <a:srgbClr val="F8FAFC"/>
                </a:solidFill>
                <a:latin typeface="Aptos Display"/>
              </a:rPr>
              <a:t>KuaiRand-Pure</a:t>
            </a:r>
          </a:p>
        </p:txBody>
      </p:sp>
      <p:sp>
        <p:nvSpPr>
          <p:cNvPr id="6" name="Rounded Rectangle 5"/>
          <p:cNvSpPr/>
          <p:nvPr/>
        </p:nvSpPr>
        <p:spPr>
          <a:xfrm>
            <a:off x="4608575" y="1801368"/>
            <a:ext cx="1097280"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5" y="1810512"/>
            <a:ext cx="1097280" cy="256032"/>
          </a:xfrm>
          <a:prstGeom prst="rect">
            <a:avLst/>
          </a:prstGeom>
          <a:noFill/>
        </p:spPr>
        <p:txBody>
          <a:bodyPr wrap="none" lIns="0" rIns="0" tIns="0" bIns="0" anchor="ctr">
            <a:spAutoFit/>
          </a:bodyPr>
          <a:lstStyle/>
          <a:p>
            <a:pPr algn="ctr">
              <a:lnSpc>
                <a:spcPct val="100000"/>
              </a:lnSpc>
            </a:pPr>
            <a:r>
              <a:rPr sz="800" b="1">
                <a:solidFill>
                  <a:srgbClr val="FBBF24"/>
                </a:solidFill>
                <a:latin typeface="Aptos"/>
              </a:rPr>
              <a:t>REQUIRED</a:t>
            </a:r>
          </a:p>
        </p:txBody>
      </p:sp>
      <p:sp>
        <p:nvSpPr>
          <p:cNvPr id="8" name="TextBox 7"/>
          <p:cNvSpPr txBox="1"/>
          <p:nvPr/>
        </p:nvSpPr>
        <p:spPr>
          <a:xfrm>
            <a:off x="877824" y="2340864"/>
            <a:ext cx="1051560" cy="164592"/>
          </a:xfrm>
          <a:prstGeom prst="rect">
            <a:avLst/>
          </a:prstGeom>
          <a:noFill/>
        </p:spPr>
        <p:txBody>
          <a:bodyPr wrap="none" lIns="0" rIns="0" tIns="0" bIns="0" anchor="t">
            <a:spAutoFit/>
          </a:bodyPr>
          <a:lstStyle/>
          <a:p>
            <a:pPr algn="l">
              <a:lnSpc>
                <a:spcPct val="100000"/>
              </a:lnSpc>
            </a:pPr>
            <a:r>
              <a:rPr sz="800" b="1">
                <a:solidFill>
                  <a:srgbClr val="A9B8C9"/>
                </a:solidFill>
                <a:latin typeface="Aptos"/>
              </a:rPr>
              <a:t>BASELINE</a:t>
            </a:r>
          </a:p>
        </p:txBody>
      </p:sp>
      <p:sp>
        <p:nvSpPr>
          <p:cNvPr id="9" name="TextBox 8"/>
          <p:cNvSpPr txBox="1"/>
          <p:nvPr/>
        </p:nvSpPr>
        <p:spPr>
          <a:xfrm>
            <a:off x="877824" y="2542032"/>
            <a:ext cx="1463040" cy="365760"/>
          </a:xfrm>
          <a:prstGeom prst="rect">
            <a:avLst/>
          </a:prstGeom>
          <a:noFill/>
        </p:spPr>
        <p:txBody>
          <a:bodyPr wrap="none" lIns="0" rIns="0" tIns="0" bIns="0" anchor="t">
            <a:spAutoFit/>
          </a:bodyPr>
          <a:lstStyle/>
          <a:p>
            <a:pPr algn="l">
              <a:lnSpc>
                <a:spcPct val="100000"/>
              </a:lnSpc>
            </a:pPr>
            <a:r>
              <a:rPr sz="1900" b="1">
                <a:solidFill>
                  <a:srgbClr val="F8FAFC"/>
                </a:solidFill>
                <a:latin typeface="Aptos Display"/>
              </a:rPr>
              <a:t>0.6016</a:t>
            </a:r>
          </a:p>
        </p:txBody>
      </p:sp>
      <p:sp>
        <p:nvSpPr>
          <p:cNvPr id="10" name="TextBox 9"/>
          <p:cNvSpPr txBox="1"/>
          <p:nvPr/>
        </p:nvSpPr>
        <p:spPr>
          <a:xfrm>
            <a:off x="2615184" y="2340864"/>
            <a:ext cx="1051560" cy="164592"/>
          </a:xfrm>
          <a:prstGeom prst="rect">
            <a:avLst/>
          </a:prstGeom>
          <a:noFill/>
        </p:spPr>
        <p:txBody>
          <a:bodyPr wrap="none" lIns="0" rIns="0" tIns="0" bIns="0" anchor="t">
            <a:spAutoFit/>
          </a:bodyPr>
          <a:lstStyle/>
          <a:p>
            <a:pPr algn="l">
              <a:lnSpc>
                <a:spcPct val="100000"/>
              </a:lnSpc>
            </a:pPr>
            <a:r>
              <a:rPr sz="800" b="1">
                <a:solidFill>
                  <a:srgbClr val="3B82F6"/>
                </a:solidFill>
                <a:latin typeface="Aptos"/>
              </a:rPr>
              <a:t>MELEARN</a:t>
            </a:r>
          </a:p>
        </p:txBody>
      </p:sp>
      <p:sp>
        <p:nvSpPr>
          <p:cNvPr id="11" name="TextBox 10"/>
          <p:cNvSpPr txBox="1"/>
          <p:nvPr/>
        </p:nvSpPr>
        <p:spPr>
          <a:xfrm>
            <a:off x="2615184" y="2542032"/>
            <a:ext cx="2011680" cy="365760"/>
          </a:xfrm>
          <a:prstGeom prst="rect">
            <a:avLst/>
          </a:prstGeom>
          <a:noFill/>
        </p:spPr>
        <p:txBody>
          <a:bodyPr wrap="none" lIns="0" rIns="0" tIns="0" bIns="0" anchor="t">
            <a:spAutoFit/>
          </a:bodyPr>
          <a:lstStyle/>
          <a:p>
            <a:pPr algn="l">
              <a:lnSpc>
                <a:spcPct val="100000"/>
              </a:lnSpc>
            </a:pPr>
            <a:r>
              <a:rPr sz="1900" b="1">
                <a:solidFill>
                  <a:srgbClr val="3B82F6"/>
                </a:solidFill>
                <a:latin typeface="Aptos Display"/>
              </a:rPr>
              <a:t>0.605493</a:t>
            </a:r>
          </a:p>
        </p:txBody>
      </p:sp>
      <p:sp>
        <p:nvSpPr>
          <p:cNvPr id="12" name="TextBox 11"/>
          <p:cNvSpPr txBox="1"/>
          <p:nvPr/>
        </p:nvSpPr>
        <p:spPr>
          <a:xfrm>
            <a:off x="4581144" y="2340864"/>
            <a:ext cx="1143000" cy="164592"/>
          </a:xfrm>
          <a:prstGeom prst="rect">
            <a:avLst/>
          </a:prstGeom>
          <a:noFill/>
        </p:spPr>
        <p:txBody>
          <a:bodyPr wrap="none" lIns="0" rIns="0" tIns="0" bIns="0" anchor="t">
            <a:spAutoFit/>
          </a:bodyPr>
          <a:lstStyle/>
          <a:p>
            <a:pPr algn="r">
              <a:lnSpc>
                <a:spcPct val="100000"/>
              </a:lnSpc>
            </a:pPr>
            <a:r>
              <a:rPr sz="800" b="1">
                <a:solidFill>
                  <a:srgbClr val="FBBF24"/>
                </a:solidFill>
                <a:latin typeface="Aptos"/>
              </a:rPr>
              <a:t>GAIN</a:t>
            </a:r>
          </a:p>
        </p:txBody>
      </p:sp>
      <p:sp>
        <p:nvSpPr>
          <p:cNvPr id="13" name="TextBox 12"/>
          <p:cNvSpPr txBox="1"/>
          <p:nvPr/>
        </p:nvSpPr>
        <p:spPr>
          <a:xfrm>
            <a:off x="4032504" y="2542032"/>
            <a:ext cx="1691640" cy="365760"/>
          </a:xfrm>
          <a:prstGeom prst="rect">
            <a:avLst/>
          </a:prstGeom>
          <a:noFill/>
        </p:spPr>
        <p:txBody>
          <a:bodyPr wrap="none" lIns="0" rIns="0" tIns="0" bIns="0" anchor="t">
            <a:spAutoFit/>
          </a:bodyPr>
          <a:lstStyle/>
          <a:p>
            <a:pPr algn="r">
              <a:lnSpc>
                <a:spcPct val="100000"/>
              </a:lnSpc>
            </a:pPr>
            <a:r>
              <a:rPr sz="1900" b="1">
                <a:solidFill>
                  <a:srgbClr val="FBBF24"/>
                </a:solidFill>
                <a:latin typeface="Aptos Display"/>
              </a:rPr>
              <a:t>+0.003944</a:t>
            </a:r>
          </a:p>
        </p:txBody>
      </p:sp>
      <p:sp>
        <p:nvSpPr>
          <p:cNvPr id="14" name="TextBox 13"/>
          <p:cNvSpPr txBox="1"/>
          <p:nvPr/>
        </p:nvSpPr>
        <p:spPr>
          <a:xfrm>
            <a:off x="896112" y="2999232"/>
            <a:ext cx="1920240" cy="164592"/>
          </a:xfrm>
          <a:prstGeom prst="rect">
            <a:avLst/>
          </a:prstGeom>
          <a:noFill/>
        </p:spPr>
        <p:txBody>
          <a:bodyPr wrap="none" lIns="0" rIns="0" tIns="0" bIns="0" anchor="t">
            <a:spAutoFit/>
          </a:bodyPr>
          <a:lstStyle/>
          <a:p>
            <a:pPr algn="l">
              <a:lnSpc>
                <a:spcPct val="100000"/>
              </a:lnSpc>
            </a:pPr>
            <a:r>
              <a:rPr sz="750" b="1">
                <a:solidFill>
                  <a:srgbClr val="6F86A0"/>
                </a:solidFill>
                <a:latin typeface="Aptos"/>
              </a:rPr>
              <a:t>GAIN OVER BASELINE</a:t>
            </a:r>
          </a:p>
        </p:txBody>
      </p:sp>
      <p:sp>
        <p:nvSpPr>
          <p:cNvPr id="15" name="Rounded Rectangle 14"/>
          <p:cNvSpPr/>
          <p:nvPr/>
        </p:nvSpPr>
        <p:spPr>
          <a:xfrm>
            <a:off x="896112" y="3218688"/>
            <a:ext cx="4828032" cy="12801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6112" y="3218688"/>
            <a:ext cx="4231501" cy="128016"/>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1904" y="3136392"/>
            <a:ext cx="22860" cy="310896"/>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85872" y="3483864"/>
            <a:ext cx="530352" cy="137160"/>
          </a:xfrm>
          <a:prstGeom prst="rect">
            <a:avLst/>
          </a:prstGeom>
          <a:noFill/>
        </p:spPr>
        <p:txBody>
          <a:bodyPr wrap="none" lIns="0" rIns="0" tIns="0" bIns="0" anchor="t">
            <a:spAutoFit/>
          </a:bodyPr>
          <a:lstStyle/>
          <a:p>
            <a:pPr algn="ctr">
              <a:lnSpc>
                <a:spcPct val="100000"/>
              </a:lnSpc>
            </a:pPr>
            <a:r>
              <a:rPr sz="650" b="1">
                <a:solidFill>
                  <a:srgbClr val="F8FAFC"/>
                </a:solidFill>
                <a:latin typeface="Aptos"/>
              </a:rPr>
              <a:t>target</a:t>
            </a:r>
          </a:p>
        </p:txBody>
      </p:sp>
      <p:sp>
        <p:nvSpPr>
          <p:cNvPr id="19" name="TextBox 18"/>
          <p:cNvSpPr txBox="1"/>
          <p:nvPr/>
        </p:nvSpPr>
        <p:spPr>
          <a:xfrm>
            <a:off x="896112" y="3392424"/>
            <a:ext cx="274320" cy="146304"/>
          </a:xfrm>
          <a:prstGeom prst="rect">
            <a:avLst/>
          </a:prstGeom>
          <a:noFill/>
        </p:spPr>
        <p:txBody>
          <a:bodyPr wrap="none" lIns="0" rIns="0" tIns="0" bIns="0" anchor="t">
            <a:spAutoFit/>
          </a:bodyPr>
          <a:lstStyle/>
          <a:p>
            <a:pPr algn="l">
              <a:lnSpc>
                <a:spcPct val="100000"/>
              </a:lnSpc>
            </a:pPr>
            <a:r>
              <a:rPr sz="700" b="0">
                <a:solidFill>
                  <a:srgbClr val="6F86A0"/>
                </a:solidFill>
                <a:latin typeface="Aptos"/>
              </a:rPr>
              <a:t>0</a:t>
            </a:r>
          </a:p>
        </p:txBody>
      </p:sp>
      <p:sp>
        <p:nvSpPr>
          <p:cNvPr id="20" name="TextBox 19"/>
          <p:cNvSpPr txBox="1"/>
          <p:nvPr/>
        </p:nvSpPr>
        <p:spPr>
          <a:xfrm>
            <a:off x="5129783" y="3392424"/>
            <a:ext cx="594360" cy="146304"/>
          </a:xfrm>
          <a:prstGeom prst="rect">
            <a:avLst/>
          </a:prstGeom>
          <a:noFill/>
        </p:spPr>
        <p:txBody>
          <a:bodyPr wrap="none" lIns="0" rIns="0" tIns="0" bIns="0" anchor="t">
            <a:spAutoFit/>
          </a:bodyPr>
          <a:lstStyle/>
          <a:p>
            <a:pPr algn="r">
              <a:lnSpc>
                <a:spcPct val="100000"/>
              </a:lnSpc>
            </a:pPr>
            <a:r>
              <a:rPr sz="700" b="0">
                <a:solidFill>
                  <a:srgbClr val="6F86A0"/>
                </a:solidFill>
                <a:latin typeface="Aptos"/>
              </a:rPr>
              <a:t>+0.004</a:t>
            </a:r>
          </a:p>
        </p:txBody>
      </p:sp>
      <p:sp>
        <p:nvSpPr>
          <p:cNvPr id="21" name="Rounded Rectangle 20"/>
          <p:cNvSpPr/>
          <p:nvPr/>
        </p:nvSpPr>
        <p:spPr>
          <a:xfrm>
            <a:off x="896112" y="3822191"/>
            <a:ext cx="2276856" cy="804672"/>
          </a:xfrm>
          <a:prstGeom prst="roundRect">
            <a:avLst/>
          </a:prstGeom>
          <a:solidFill>
            <a:srgbClr val="0C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2415" y="3959352"/>
            <a:ext cx="1984248" cy="164592"/>
          </a:xfrm>
          <a:prstGeom prst="rect">
            <a:avLst/>
          </a:prstGeom>
          <a:noFill/>
        </p:spPr>
        <p:txBody>
          <a:bodyPr wrap="none" lIns="0" rIns="0" tIns="0" bIns="0" anchor="t">
            <a:spAutoFit/>
          </a:bodyPr>
          <a:lstStyle/>
          <a:p>
            <a:pPr algn="l">
              <a:lnSpc>
                <a:spcPct val="100000"/>
              </a:lnSpc>
            </a:pPr>
            <a:r>
              <a:rPr sz="800" b="1">
                <a:solidFill>
                  <a:srgbClr val="A9B8C9"/>
                </a:solidFill>
                <a:latin typeface="Aptos"/>
              </a:rPr>
              <a:t>GAUC DELTA</a:t>
            </a:r>
          </a:p>
        </p:txBody>
      </p:sp>
      <p:sp>
        <p:nvSpPr>
          <p:cNvPr id="23" name="TextBox 22"/>
          <p:cNvSpPr txBox="1"/>
          <p:nvPr/>
        </p:nvSpPr>
        <p:spPr>
          <a:xfrm>
            <a:off x="1042415" y="4215384"/>
            <a:ext cx="1984248" cy="228600"/>
          </a:xfrm>
          <a:prstGeom prst="rect">
            <a:avLst/>
          </a:prstGeom>
          <a:noFill/>
        </p:spPr>
        <p:txBody>
          <a:bodyPr wrap="none" lIns="0" rIns="0" tIns="0" bIns="0" anchor="t">
            <a:spAutoFit/>
          </a:bodyPr>
          <a:lstStyle/>
          <a:p>
            <a:pPr algn="l">
              <a:lnSpc>
                <a:spcPct val="100000"/>
              </a:lnSpc>
            </a:pPr>
            <a:r>
              <a:rPr sz="1400" b="1">
                <a:solidFill>
                  <a:srgbClr val="34D399"/>
                </a:solidFill>
                <a:latin typeface="Aptos Display"/>
              </a:rPr>
              <a:t>+0.005069</a:t>
            </a:r>
          </a:p>
        </p:txBody>
      </p:sp>
      <p:sp>
        <p:nvSpPr>
          <p:cNvPr id="24" name="Rounded Rectangle 23"/>
          <p:cNvSpPr/>
          <p:nvPr/>
        </p:nvSpPr>
        <p:spPr>
          <a:xfrm>
            <a:off x="3227832" y="3822191"/>
            <a:ext cx="2276856" cy="804672"/>
          </a:xfrm>
          <a:prstGeom prst="roundRect">
            <a:avLst/>
          </a:prstGeom>
          <a:solidFill>
            <a:srgbClr val="0C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74136" y="3959352"/>
            <a:ext cx="1984248" cy="164592"/>
          </a:xfrm>
          <a:prstGeom prst="rect">
            <a:avLst/>
          </a:prstGeom>
          <a:noFill/>
        </p:spPr>
        <p:txBody>
          <a:bodyPr wrap="none" lIns="0" rIns="0" tIns="0" bIns="0" anchor="t">
            <a:spAutoFit/>
          </a:bodyPr>
          <a:lstStyle/>
          <a:p>
            <a:pPr algn="l">
              <a:lnSpc>
                <a:spcPct val="100000"/>
              </a:lnSpc>
            </a:pPr>
            <a:r>
              <a:rPr sz="800" b="1">
                <a:solidFill>
                  <a:srgbClr val="A9B8C9"/>
                </a:solidFill>
                <a:latin typeface="Aptos"/>
              </a:rPr>
              <a:t>nDCG@5 DELTA</a:t>
            </a:r>
          </a:p>
        </p:txBody>
      </p:sp>
      <p:sp>
        <p:nvSpPr>
          <p:cNvPr id="26" name="TextBox 25"/>
          <p:cNvSpPr txBox="1"/>
          <p:nvPr/>
        </p:nvSpPr>
        <p:spPr>
          <a:xfrm>
            <a:off x="3374136" y="4215384"/>
            <a:ext cx="1984248" cy="228600"/>
          </a:xfrm>
          <a:prstGeom prst="rect">
            <a:avLst/>
          </a:prstGeom>
          <a:noFill/>
        </p:spPr>
        <p:txBody>
          <a:bodyPr wrap="none" lIns="0" rIns="0" tIns="0" bIns="0" anchor="t">
            <a:spAutoFit/>
          </a:bodyPr>
          <a:lstStyle/>
          <a:p>
            <a:pPr algn="l">
              <a:lnSpc>
                <a:spcPct val="100000"/>
              </a:lnSpc>
            </a:pPr>
            <a:r>
              <a:rPr sz="1400" b="1">
                <a:solidFill>
                  <a:srgbClr val="34D399"/>
                </a:solidFill>
                <a:latin typeface="Aptos Display"/>
              </a:rPr>
              <a:t>+0.002818</a:t>
            </a:r>
          </a:p>
        </p:txBody>
      </p:sp>
      <p:sp>
        <p:nvSpPr>
          <p:cNvPr id="27" name="Rounded Rectangle 26"/>
          <p:cNvSpPr/>
          <p:nvPr/>
        </p:nvSpPr>
        <p:spPr>
          <a:xfrm>
            <a:off x="6199632" y="1554480"/>
            <a:ext cx="5349240" cy="3474720"/>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1810512"/>
            <a:ext cx="3520439" cy="310896"/>
          </a:xfrm>
          <a:prstGeom prst="rect">
            <a:avLst/>
          </a:prstGeom>
          <a:noFill/>
        </p:spPr>
        <p:txBody>
          <a:bodyPr wrap="none" lIns="0" rIns="0" tIns="0" bIns="0" anchor="t">
            <a:spAutoFit/>
          </a:bodyPr>
          <a:lstStyle/>
          <a:p>
            <a:pPr algn="l">
              <a:lnSpc>
                <a:spcPct val="100000"/>
              </a:lnSpc>
            </a:pPr>
            <a:r>
              <a:rPr sz="1700" b="1">
                <a:solidFill>
                  <a:srgbClr val="F8FAFC"/>
                </a:solidFill>
                <a:latin typeface="Aptos Display"/>
              </a:rPr>
              <a:t>KuaiRand-1K</a:t>
            </a:r>
          </a:p>
        </p:txBody>
      </p:sp>
      <p:sp>
        <p:nvSpPr>
          <p:cNvPr id="29" name="Rounded Rectangle 28"/>
          <p:cNvSpPr/>
          <p:nvPr/>
        </p:nvSpPr>
        <p:spPr>
          <a:xfrm>
            <a:off x="10158984" y="1801368"/>
            <a:ext cx="1097280" cy="31089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8984" y="1810512"/>
            <a:ext cx="1097280" cy="256032"/>
          </a:xfrm>
          <a:prstGeom prst="rect">
            <a:avLst/>
          </a:prstGeom>
          <a:noFill/>
        </p:spPr>
        <p:txBody>
          <a:bodyPr wrap="none" lIns="0" rIns="0" tIns="0" bIns="0" anchor="ctr">
            <a:spAutoFit/>
          </a:bodyPr>
          <a:lstStyle/>
          <a:p>
            <a:pPr algn="ctr">
              <a:lnSpc>
                <a:spcPct val="100000"/>
              </a:lnSpc>
            </a:pPr>
            <a:r>
              <a:rPr sz="800" b="1">
                <a:solidFill>
                  <a:srgbClr val="3B82F6"/>
                </a:solidFill>
                <a:latin typeface="Aptos"/>
              </a:rPr>
              <a:t>BONUS</a:t>
            </a:r>
          </a:p>
        </p:txBody>
      </p:sp>
      <p:sp>
        <p:nvSpPr>
          <p:cNvPr id="31" name="TextBox 30"/>
          <p:cNvSpPr txBox="1"/>
          <p:nvPr/>
        </p:nvSpPr>
        <p:spPr>
          <a:xfrm>
            <a:off x="6455664" y="2340864"/>
            <a:ext cx="1051560" cy="164592"/>
          </a:xfrm>
          <a:prstGeom prst="rect">
            <a:avLst/>
          </a:prstGeom>
          <a:noFill/>
        </p:spPr>
        <p:txBody>
          <a:bodyPr wrap="none" lIns="0" rIns="0" tIns="0" bIns="0" anchor="t">
            <a:spAutoFit/>
          </a:bodyPr>
          <a:lstStyle/>
          <a:p>
            <a:pPr algn="l">
              <a:lnSpc>
                <a:spcPct val="100000"/>
              </a:lnSpc>
            </a:pPr>
            <a:r>
              <a:rPr sz="800" b="1">
                <a:solidFill>
                  <a:srgbClr val="A9B8C9"/>
                </a:solidFill>
                <a:latin typeface="Aptos"/>
              </a:rPr>
              <a:t>BASELINE</a:t>
            </a:r>
          </a:p>
        </p:txBody>
      </p:sp>
      <p:sp>
        <p:nvSpPr>
          <p:cNvPr id="32" name="TextBox 31"/>
          <p:cNvSpPr txBox="1"/>
          <p:nvPr/>
        </p:nvSpPr>
        <p:spPr>
          <a:xfrm>
            <a:off x="6455664" y="2542032"/>
            <a:ext cx="1463040" cy="365760"/>
          </a:xfrm>
          <a:prstGeom prst="rect">
            <a:avLst/>
          </a:prstGeom>
          <a:noFill/>
        </p:spPr>
        <p:txBody>
          <a:bodyPr wrap="none" lIns="0" rIns="0" tIns="0" bIns="0" anchor="t">
            <a:spAutoFit/>
          </a:bodyPr>
          <a:lstStyle/>
          <a:p>
            <a:pPr algn="l">
              <a:lnSpc>
                <a:spcPct val="100000"/>
              </a:lnSpc>
            </a:pPr>
            <a:r>
              <a:rPr sz="1900" b="1">
                <a:solidFill>
                  <a:srgbClr val="F8FAFC"/>
                </a:solidFill>
                <a:latin typeface="Aptos Display"/>
              </a:rPr>
              <a:t>0.6451</a:t>
            </a:r>
          </a:p>
        </p:txBody>
      </p:sp>
      <p:sp>
        <p:nvSpPr>
          <p:cNvPr id="33" name="TextBox 32"/>
          <p:cNvSpPr txBox="1"/>
          <p:nvPr/>
        </p:nvSpPr>
        <p:spPr>
          <a:xfrm>
            <a:off x="8193024" y="2340864"/>
            <a:ext cx="1051560" cy="164592"/>
          </a:xfrm>
          <a:prstGeom prst="rect">
            <a:avLst/>
          </a:prstGeom>
          <a:noFill/>
        </p:spPr>
        <p:txBody>
          <a:bodyPr wrap="none" lIns="0" rIns="0" tIns="0" bIns="0" anchor="t">
            <a:spAutoFit/>
          </a:bodyPr>
          <a:lstStyle/>
          <a:p>
            <a:pPr algn="l">
              <a:lnSpc>
                <a:spcPct val="100000"/>
              </a:lnSpc>
            </a:pPr>
            <a:r>
              <a:rPr sz="800" b="1">
                <a:solidFill>
                  <a:srgbClr val="3B82F6"/>
                </a:solidFill>
                <a:latin typeface="Aptos"/>
              </a:rPr>
              <a:t>MELEARN</a:t>
            </a:r>
          </a:p>
        </p:txBody>
      </p:sp>
      <p:sp>
        <p:nvSpPr>
          <p:cNvPr id="34" name="TextBox 33"/>
          <p:cNvSpPr txBox="1"/>
          <p:nvPr/>
        </p:nvSpPr>
        <p:spPr>
          <a:xfrm>
            <a:off x="8193024" y="2542032"/>
            <a:ext cx="2011680" cy="365760"/>
          </a:xfrm>
          <a:prstGeom prst="rect">
            <a:avLst/>
          </a:prstGeom>
          <a:noFill/>
        </p:spPr>
        <p:txBody>
          <a:bodyPr wrap="none" lIns="0" rIns="0" tIns="0" bIns="0" anchor="t">
            <a:spAutoFit/>
          </a:bodyPr>
          <a:lstStyle/>
          <a:p>
            <a:pPr algn="l">
              <a:lnSpc>
                <a:spcPct val="100000"/>
              </a:lnSpc>
            </a:pPr>
            <a:r>
              <a:rPr sz="1900" b="1">
                <a:solidFill>
                  <a:srgbClr val="3B82F6"/>
                </a:solidFill>
                <a:latin typeface="Aptos Display"/>
              </a:rPr>
              <a:t>0.682994</a:t>
            </a:r>
          </a:p>
        </p:txBody>
      </p:sp>
      <p:sp>
        <p:nvSpPr>
          <p:cNvPr id="35" name="TextBox 34"/>
          <p:cNvSpPr txBox="1"/>
          <p:nvPr/>
        </p:nvSpPr>
        <p:spPr>
          <a:xfrm>
            <a:off x="10131551" y="2340864"/>
            <a:ext cx="1143000" cy="164592"/>
          </a:xfrm>
          <a:prstGeom prst="rect">
            <a:avLst/>
          </a:prstGeom>
          <a:noFill/>
        </p:spPr>
        <p:txBody>
          <a:bodyPr wrap="none" lIns="0" rIns="0" tIns="0" bIns="0" anchor="t">
            <a:spAutoFit/>
          </a:bodyPr>
          <a:lstStyle/>
          <a:p>
            <a:pPr algn="r">
              <a:lnSpc>
                <a:spcPct val="100000"/>
              </a:lnSpc>
            </a:pPr>
            <a:r>
              <a:rPr sz="800" b="1">
                <a:solidFill>
                  <a:srgbClr val="FBBF24"/>
                </a:solidFill>
                <a:latin typeface="Aptos"/>
              </a:rPr>
              <a:t>GAIN</a:t>
            </a:r>
          </a:p>
        </p:txBody>
      </p:sp>
      <p:sp>
        <p:nvSpPr>
          <p:cNvPr id="36" name="TextBox 35"/>
          <p:cNvSpPr txBox="1"/>
          <p:nvPr/>
        </p:nvSpPr>
        <p:spPr>
          <a:xfrm>
            <a:off x="9582911" y="2542032"/>
            <a:ext cx="1691640" cy="365760"/>
          </a:xfrm>
          <a:prstGeom prst="rect">
            <a:avLst/>
          </a:prstGeom>
          <a:noFill/>
        </p:spPr>
        <p:txBody>
          <a:bodyPr wrap="none" lIns="0" rIns="0" tIns="0" bIns="0" anchor="t">
            <a:spAutoFit/>
          </a:bodyPr>
          <a:lstStyle/>
          <a:p>
            <a:pPr algn="r">
              <a:lnSpc>
                <a:spcPct val="100000"/>
              </a:lnSpc>
            </a:pPr>
            <a:r>
              <a:rPr sz="1900" b="1">
                <a:solidFill>
                  <a:srgbClr val="FBBF24"/>
                </a:solidFill>
                <a:latin typeface="Aptos Display"/>
              </a:rPr>
              <a:t>+0.037894</a:t>
            </a:r>
          </a:p>
        </p:txBody>
      </p:sp>
      <p:sp>
        <p:nvSpPr>
          <p:cNvPr id="37" name="TextBox 36"/>
          <p:cNvSpPr txBox="1"/>
          <p:nvPr/>
        </p:nvSpPr>
        <p:spPr>
          <a:xfrm>
            <a:off x="6473952" y="2999232"/>
            <a:ext cx="1920240" cy="164592"/>
          </a:xfrm>
          <a:prstGeom prst="rect">
            <a:avLst/>
          </a:prstGeom>
          <a:noFill/>
        </p:spPr>
        <p:txBody>
          <a:bodyPr wrap="none" lIns="0" rIns="0" tIns="0" bIns="0" anchor="t">
            <a:spAutoFit/>
          </a:bodyPr>
          <a:lstStyle/>
          <a:p>
            <a:pPr algn="l">
              <a:lnSpc>
                <a:spcPct val="100000"/>
              </a:lnSpc>
            </a:pPr>
            <a:r>
              <a:rPr sz="750" b="1">
                <a:solidFill>
                  <a:srgbClr val="6F86A0"/>
                </a:solidFill>
                <a:latin typeface="Aptos"/>
              </a:rPr>
              <a:t>GAIN OVER BASELINE</a:t>
            </a:r>
          </a:p>
        </p:txBody>
      </p:sp>
      <p:sp>
        <p:nvSpPr>
          <p:cNvPr id="38" name="Rounded Rectangle 37"/>
          <p:cNvSpPr/>
          <p:nvPr/>
        </p:nvSpPr>
        <p:spPr>
          <a:xfrm>
            <a:off x="6473952" y="3218688"/>
            <a:ext cx="4800600" cy="128016"/>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73952" y="3218688"/>
            <a:ext cx="4547848" cy="128016"/>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73952" y="3392424"/>
            <a:ext cx="274320" cy="146304"/>
          </a:xfrm>
          <a:prstGeom prst="rect">
            <a:avLst/>
          </a:prstGeom>
          <a:noFill/>
        </p:spPr>
        <p:txBody>
          <a:bodyPr wrap="none" lIns="0" rIns="0" tIns="0" bIns="0" anchor="t">
            <a:spAutoFit/>
          </a:bodyPr>
          <a:lstStyle/>
          <a:p>
            <a:pPr algn="l">
              <a:lnSpc>
                <a:spcPct val="100000"/>
              </a:lnSpc>
            </a:pPr>
            <a:r>
              <a:rPr sz="700" b="0">
                <a:solidFill>
                  <a:srgbClr val="6F86A0"/>
                </a:solidFill>
                <a:latin typeface="Aptos"/>
              </a:rPr>
              <a:t>0</a:t>
            </a:r>
          </a:p>
        </p:txBody>
      </p:sp>
      <p:sp>
        <p:nvSpPr>
          <p:cNvPr id="41" name="TextBox 40"/>
          <p:cNvSpPr txBox="1"/>
          <p:nvPr/>
        </p:nvSpPr>
        <p:spPr>
          <a:xfrm>
            <a:off x="10680192" y="3392424"/>
            <a:ext cx="594360" cy="146304"/>
          </a:xfrm>
          <a:prstGeom prst="rect">
            <a:avLst/>
          </a:prstGeom>
          <a:noFill/>
        </p:spPr>
        <p:txBody>
          <a:bodyPr wrap="none" lIns="0" rIns="0" tIns="0" bIns="0" anchor="t">
            <a:spAutoFit/>
          </a:bodyPr>
          <a:lstStyle/>
          <a:p>
            <a:pPr algn="r">
              <a:lnSpc>
                <a:spcPct val="100000"/>
              </a:lnSpc>
            </a:pPr>
            <a:r>
              <a:rPr sz="700" b="0">
                <a:solidFill>
                  <a:srgbClr val="6F86A0"/>
                </a:solidFill>
                <a:latin typeface="Aptos"/>
              </a:rPr>
              <a:t>+0.040</a:t>
            </a:r>
          </a:p>
        </p:txBody>
      </p:sp>
      <p:sp>
        <p:nvSpPr>
          <p:cNvPr id="42" name="Rounded Rectangle 41"/>
          <p:cNvSpPr/>
          <p:nvPr/>
        </p:nvSpPr>
        <p:spPr>
          <a:xfrm>
            <a:off x="6473952" y="3822191"/>
            <a:ext cx="2263139" cy="804672"/>
          </a:xfrm>
          <a:prstGeom prst="roundRect">
            <a:avLst/>
          </a:prstGeom>
          <a:solidFill>
            <a:srgbClr val="0C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0256" y="3959352"/>
            <a:ext cx="1970531" cy="164592"/>
          </a:xfrm>
          <a:prstGeom prst="rect">
            <a:avLst/>
          </a:prstGeom>
          <a:noFill/>
        </p:spPr>
        <p:txBody>
          <a:bodyPr wrap="none" lIns="0" rIns="0" tIns="0" bIns="0" anchor="t">
            <a:spAutoFit/>
          </a:bodyPr>
          <a:lstStyle/>
          <a:p>
            <a:pPr algn="l">
              <a:lnSpc>
                <a:spcPct val="100000"/>
              </a:lnSpc>
            </a:pPr>
            <a:r>
              <a:rPr sz="800" b="1">
                <a:solidFill>
                  <a:srgbClr val="A9B8C9"/>
                </a:solidFill>
                <a:latin typeface="Aptos"/>
              </a:rPr>
              <a:t>GAUC DELTA</a:t>
            </a:r>
          </a:p>
        </p:txBody>
      </p:sp>
      <p:sp>
        <p:nvSpPr>
          <p:cNvPr id="44" name="TextBox 43"/>
          <p:cNvSpPr txBox="1"/>
          <p:nvPr/>
        </p:nvSpPr>
        <p:spPr>
          <a:xfrm>
            <a:off x="6620256" y="4215384"/>
            <a:ext cx="1970531" cy="228600"/>
          </a:xfrm>
          <a:prstGeom prst="rect">
            <a:avLst/>
          </a:prstGeom>
          <a:noFill/>
        </p:spPr>
        <p:txBody>
          <a:bodyPr wrap="none" lIns="0" rIns="0" tIns="0" bIns="0" anchor="t">
            <a:spAutoFit/>
          </a:bodyPr>
          <a:lstStyle/>
          <a:p>
            <a:pPr algn="l">
              <a:lnSpc>
                <a:spcPct val="100000"/>
              </a:lnSpc>
            </a:pPr>
            <a:r>
              <a:rPr sz="1400" b="1">
                <a:solidFill>
                  <a:srgbClr val="34D399"/>
                </a:solidFill>
                <a:latin typeface="Aptos Display"/>
              </a:rPr>
              <a:t>+0.027823</a:t>
            </a:r>
          </a:p>
        </p:txBody>
      </p:sp>
      <p:sp>
        <p:nvSpPr>
          <p:cNvPr id="45" name="Rounded Rectangle 44"/>
          <p:cNvSpPr/>
          <p:nvPr/>
        </p:nvSpPr>
        <p:spPr>
          <a:xfrm>
            <a:off x="8791956" y="3822191"/>
            <a:ext cx="2263139" cy="804672"/>
          </a:xfrm>
          <a:prstGeom prst="roundRect">
            <a:avLst/>
          </a:prstGeom>
          <a:solidFill>
            <a:srgbClr val="0C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38260" y="3959352"/>
            <a:ext cx="1970531" cy="164592"/>
          </a:xfrm>
          <a:prstGeom prst="rect">
            <a:avLst/>
          </a:prstGeom>
          <a:noFill/>
        </p:spPr>
        <p:txBody>
          <a:bodyPr wrap="none" lIns="0" rIns="0" tIns="0" bIns="0" anchor="t">
            <a:spAutoFit/>
          </a:bodyPr>
          <a:lstStyle/>
          <a:p>
            <a:pPr algn="l">
              <a:lnSpc>
                <a:spcPct val="100000"/>
              </a:lnSpc>
            </a:pPr>
            <a:r>
              <a:rPr sz="800" b="1">
                <a:solidFill>
                  <a:srgbClr val="A9B8C9"/>
                </a:solidFill>
                <a:latin typeface="Aptos"/>
              </a:rPr>
              <a:t>nDCG@5 DELTA</a:t>
            </a:r>
          </a:p>
        </p:txBody>
      </p:sp>
      <p:sp>
        <p:nvSpPr>
          <p:cNvPr id="47" name="TextBox 46"/>
          <p:cNvSpPr txBox="1"/>
          <p:nvPr/>
        </p:nvSpPr>
        <p:spPr>
          <a:xfrm>
            <a:off x="8938260" y="4215384"/>
            <a:ext cx="1970531" cy="228600"/>
          </a:xfrm>
          <a:prstGeom prst="rect">
            <a:avLst/>
          </a:prstGeom>
          <a:noFill/>
        </p:spPr>
        <p:txBody>
          <a:bodyPr wrap="none" lIns="0" rIns="0" tIns="0" bIns="0" anchor="t">
            <a:spAutoFit/>
          </a:bodyPr>
          <a:lstStyle/>
          <a:p>
            <a:pPr algn="l">
              <a:lnSpc>
                <a:spcPct val="100000"/>
              </a:lnSpc>
            </a:pPr>
            <a:r>
              <a:rPr sz="1400" b="1">
                <a:solidFill>
                  <a:srgbClr val="34D399"/>
                </a:solidFill>
                <a:latin typeface="Aptos Display"/>
              </a:rPr>
              <a:t>+0.047965</a:t>
            </a:r>
          </a:p>
        </p:txBody>
      </p:sp>
      <p:sp>
        <p:nvSpPr>
          <p:cNvPr id="48" name="Rounded Rectangle 47"/>
          <p:cNvSpPr/>
          <p:nvPr/>
        </p:nvSpPr>
        <p:spPr>
          <a:xfrm>
            <a:off x="621792" y="5285232"/>
            <a:ext cx="2020824" cy="786384"/>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0664" y="5413248"/>
            <a:ext cx="1783080" cy="146304"/>
          </a:xfrm>
          <a:prstGeom prst="rect">
            <a:avLst/>
          </a:prstGeom>
          <a:noFill/>
        </p:spPr>
        <p:txBody>
          <a:bodyPr wrap="none" lIns="0" rIns="0" tIns="0" bIns="0" anchor="t">
            <a:spAutoFit/>
          </a:bodyPr>
          <a:lstStyle/>
          <a:p>
            <a:pPr algn="ctr">
              <a:lnSpc>
                <a:spcPct val="100000"/>
              </a:lnSpc>
            </a:pPr>
            <a:r>
              <a:rPr sz="750" b="1">
                <a:solidFill>
                  <a:srgbClr val="A9B8C9"/>
                </a:solidFill>
                <a:latin typeface="Aptos"/>
              </a:rPr>
              <a:t>EXPERIMENTS</a:t>
            </a:r>
          </a:p>
        </p:txBody>
      </p:sp>
      <p:sp>
        <p:nvSpPr>
          <p:cNvPr id="50" name="TextBox 49"/>
          <p:cNvSpPr txBox="1"/>
          <p:nvPr/>
        </p:nvSpPr>
        <p:spPr>
          <a:xfrm>
            <a:off x="740664" y="5660136"/>
            <a:ext cx="1783080" cy="228600"/>
          </a:xfrm>
          <a:prstGeom prst="rect">
            <a:avLst/>
          </a:prstGeom>
          <a:noFill/>
        </p:spPr>
        <p:txBody>
          <a:bodyPr wrap="none" lIns="0" rIns="0" tIns="0" bIns="0" anchor="t">
            <a:spAutoFit/>
          </a:bodyPr>
          <a:lstStyle/>
          <a:p>
            <a:pPr algn="ctr">
              <a:lnSpc>
                <a:spcPct val="100000"/>
              </a:lnSpc>
            </a:pPr>
            <a:r>
              <a:rPr sz="1400" b="1">
                <a:solidFill>
                  <a:srgbClr val="3B82F6"/>
                </a:solidFill>
                <a:latin typeface="Aptos Display"/>
              </a:rPr>
              <a:t>30 / 50</a:t>
            </a:r>
          </a:p>
        </p:txBody>
      </p:sp>
      <p:sp>
        <p:nvSpPr>
          <p:cNvPr id="51" name="Rounded Rectangle 50"/>
          <p:cNvSpPr/>
          <p:nvPr/>
        </p:nvSpPr>
        <p:spPr>
          <a:xfrm>
            <a:off x="2843784" y="5285232"/>
            <a:ext cx="2020824" cy="786384"/>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62656" y="5413248"/>
            <a:ext cx="1783080" cy="146304"/>
          </a:xfrm>
          <a:prstGeom prst="rect">
            <a:avLst/>
          </a:prstGeom>
          <a:noFill/>
        </p:spPr>
        <p:txBody>
          <a:bodyPr wrap="none" lIns="0" rIns="0" tIns="0" bIns="0" anchor="t">
            <a:spAutoFit/>
          </a:bodyPr>
          <a:lstStyle/>
          <a:p>
            <a:pPr algn="ctr">
              <a:lnSpc>
                <a:spcPct val="100000"/>
              </a:lnSpc>
            </a:pPr>
            <a:r>
              <a:rPr sz="750" b="1">
                <a:solidFill>
                  <a:srgbClr val="A9B8C9"/>
                </a:solidFill>
                <a:latin typeface="Aptos"/>
              </a:rPr>
              <a:t>TOKENS</a:t>
            </a:r>
          </a:p>
        </p:txBody>
      </p:sp>
      <p:sp>
        <p:nvSpPr>
          <p:cNvPr id="53" name="TextBox 52"/>
          <p:cNvSpPr txBox="1"/>
          <p:nvPr/>
        </p:nvSpPr>
        <p:spPr>
          <a:xfrm>
            <a:off x="2962656" y="5660136"/>
            <a:ext cx="1783080" cy="228600"/>
          </a:xfrm>
          <a:prstGeom prst="rect">
            <a:avLst/>
          </a:prstGeom>
          <a:noFill/>
        </p:spPr>
        <p:txBody>
          <a:bodyPr wrap="none" lIns="0" rIns="0" tIns="0" bIns="0" anchor="t">
            <a:spAutoFit/>
          </a:bodyPr>
          <a:lstStyle/>
          <a:p>
            <a:pPr algn="ctr">
              <a:lnSpc>
                <a:spcPct val="100000"/>
              </a:lnSpc>
            </a:pPr>
            <a:r>
              <a:rPr sz="1400" b="1">
                <a:solidFill>
                  <a:srgbClr val="FBBF24"/>
                </a:solidFill>
                <a:latin typeface="Aptos Display"/>
              </a:rPr>
              <a:t>2.46M</a:t>
            </a:r>
          </a:p>
        </p:txBody>
      </p:sp>
      <p:sp>
        <p:nvSpPr>
          <p:cNvPr id="54" name="Rounded Rectangle 53"/>
          <p:cNvSpPr/>
          <p:nvPr/>
        </p:nvSpPr>
        <p:spPr>
          <a:xfrm>
            <a:off x="5065776" y="5285232"/>
            <a:ext cx="2020824" cy="786384"/>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184648" y="5413248"/>
            <a:ext cx="1783080" cy="146304"/>
          </a:xfrm>
          <a:prstGeom prst="rect">
            <a:avLst/>
          </a:prstGeom>
          <a:noFill/>
        </p:spPr>
        <p:txBody>
          <a:bodyPr wrap="none" lIns="0" rIns="0" tIns="0" bIns="0" anchor="t">
            <a:spAutoFit/>
          </a:bodyPr>
          <a:lstStyle/>
          <a:p>
            <a:pPr algn="ctr">
              <a:lnSpc>
                <a:spcPct val="100000"/>
              </a:lnSpc>
            </a:pPr>
            <a:r>
              <a:rPr sz="750" b="1">
                <a:solidFill>
                  <a:srgbClr val="A9B8C9"/>
                </a:solidFill>
                <a:latin typeface="Aptos"/>
              </a:rPr>
              <a:t>TOTAL COST</a:t>
            </a:r>
          </a:p>
        </p:txBody>
      </p:sp>
      <p:sp>
        <p:nvSpPr>
          <p:cNvPr id="56" name="TextBox 55"/>
          <p:cNvSpPr txBox="1"/>
          <p:nvPr/>
        </p:nvSpPr>
        <p:spPr>
          <a:xfrm>
            <a:off x="5184648" y="5660136"/>
            <a:ext cx="1783080" cy="228600"/>
          </a:xfrm>
          <a:prstGeom prst="rect">
            <a:avLst/>
          </a:prstGeom>
          <a:noFill/>
        </p:spPr>
        <p:txBody>
          <a:bodyPr wrap="none" lIns="0" rIns="0" tIns="0" bIns="0" anchor="t">
            <a:spAutoFit/>
          </a:bodyPr>
          <a:lstStyle/>
          <a:p>
            <a:pPr algn="ctr">
              <a:lnSpc>
                <a:spcPct val="100000"/>
              </a:lnSpc>
            </a:pPr>
            <a:r>
              <a:rPr sz="1400" b="1">
                <a:solidFill>
                  <a:srgbClr val="FBBF24"/>
                </a:solidFill>
                <a:latin typeface="Aptos Display"/>
              </a:rPr>
              <a:t>$3.65</a:t>
            </a:r>
          </a:p>
        </p:txBody>
      </p:sp>
      <p:sp>
        <p:nvSpPr>
          <p:cNvPr id="57" name="Rounded Rectangle 56"/>
          <p:cNvSpPr/>
          <p:nvPr/>
        </p:nvSpPr>
        <p:spPr>
          <a:xfrm>
            <a:off x="7287768" y="5285232"/>
            <a:ext cx="2020824" cy="786384"/>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06640" y="5413248"/>
            <a:ext cx="1783080" cy="146304"/>
          </a:xfrm>
          <a:prstGeom prst="rect">
            <a:avLst/>
          </a:prstGeom>
          <a:noFill/>
        </p:spPr>
        <p:txBody>
          <a:bodyPr wrap="none" lIns="0" rIns="0" tIns="0" bIns="0" anchor="t">
            <a:spAutoFit/>
          </a:bodyPr>
          <a:lstStyle/>
          <a:p>
            <a:pPr algn="ctr">
              <a:lnSpc>
                <a:spcPct val="100000"/>
              </a:lnSpc>
            </a:pPr>
            <a:r>
              <a:rPr sz="750" b="1">
                <a:solidFill>
                  <a:srgbClr val="A9B8C9"/>
                </a:solidFill>
                <a:latin typeface="Aptos"/>
              </a:rPr>
              <a:t>GPU-HOURS</a:t>
            </a:r>
          </a:p>
        </p:txBody>
      </p:sp>
      <p:sp>
        <p:nvSpPr>
          <p:cNvPr id="59" name="TextBox 58"/>
          <p:cNvSpPr txBox="1"/>
          <p:nvPr/>
        </p:nvSpPr>
        <p:spPr>
          <a:xfrm>
            <a:off x="7406640" y="5660136"/>
            <a:ext cx="1783080" cy="228600"/>
          </a:xfrm>
          <a:prstGeom prst="rect">
            <a:avLst/>
          </a:prstGeom>
          <a:noFill/>
        </p:spPr>
        <p:txBody>
          <a:bodyPr wrap="none" lIns="0" rIns="0" tIns="0" bIns="0" anchor="t">
            <a:spAutoFit/>
          </a:bodyPr>
          <a:lstStyle/>
          <a:p>
            <a:pPr algn="ctr">
              <a:lnSpc>
                <a:spcPct val="100000"/>
              </a:lnSpc>
            </a:pPr>
            <a:r>
              <a:rPr sz="1400" b="1">
                <a:solidFill>
                  <a:srgbClr val="34D399"/>
                </a:solidFill>
                <a:latin typeface="Aptos Display"/>
              </a:rPr>
              <a:t>0</a:t>
            </a:r>
          </a:p>
        </p:txBody>
      </p:sp>
      <p:sp>
        <p:nvSpPr>
          <p:cNvPr id="60" name="Rounded Rectangle 59"/>
          <p:cNvSpPr/>
          <p:nvPr/>
        </p:nvSpPr>
        <p:spPr>
          <a:xfrm>
            <a:off x="9509760" y="5285232"/>
            <a:ext cx="2020824" cy="786384"/>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628632" y="5413248"/>
            <a:ext cx="1783080" cy="146304"/>
          </a:xfrm>
          <a:prstGeom prst="rect">
            <a:avLst/>
          </a:prstGeom>
          <a:noFill/>
        </p:spPr>
        <p:txBody>
          <a:bodyPr wrap="none" lIns="0" rIns="0" tIns="0" bIns="0" anchor="t">
            <a:spAutoFit/>
          </a:bodyPr>
          <a:lstStyle/>
          <a:p>
            <a:pPr algn="ctr">
              <a:lnSpc>
                <a:spcPct val="100000"/>
              </a:lnSpc>
            </a:pPr>
            <a:r>
              <a:rPr sz="750" b="1">
                <a:solidFill>
                  <a:srgbClr val="A9B8C9"/>
                </a:solidFill>
                <a:latin typeface="Aptos"/>
              </a:rPr>
              <a:t>HUMAN INPUT</a:t>
            </a:r>
          </a:p>
        </p:txBody>
      </p:sp>
      <p:sp>
        <p:nvSpPr>
          <p:cNvPr id="62" name="TextBox 61"/>
          <p:cNvSpPr txBox="1"/>
          <p:nvPr/>
        </p:nvSpPr>
        <p:spPr>
          <a:xfrm>
            <a:off x="9628632" y="5660136"/>
            <a:ext cx="1783080" cy="228600"/>
          </a:xfrm>
          <a:prstGeom prst="rect">
            <a:avLst/>
          </a:prstGeom>
          <a:noFill/>
        </p:spPr>
        <p:txBody>
          <a:bodyPr wrap="none" lIns="0" rIns="0" tIns="0" bIns="0" anchor="t">
            <a:spAutoFit/>
          </a:bodyPr>
          <a:lstStyle/>
          <a:p>
            <a:pPr algn="ctr">
              <a:lnSpc>
                <a:spcPct val="100000"/>
              </a:lnSpc>
            </a:pPr>
            <a:r>
              <a:rPr sz="1400" b="1">
                <a:solidFill>
                  <a:srgbClr val="34D399"/>
                </a:solidFill>
                <a:latin typeface="Aptos Display"/>
              </a:rPr>
              <a:t>0</a:t>
            </a:r>
          </a:p>
        </p:txBody>
      </p:sp>
      <p:sp>
        <p:nvSpPr>
          <p:cNvPr id="63" name="TextBox 62"/>
          <p:cNvSpPr txBox="1"/>
          <p:nvPr/>
        </p:nvSpPr>
        <p:spPr>
          <a:xfrm>
            <a:off x="621792" y="6528816"/>
            <a:ext cx="1463040" cy="201168"/>
          </a:xfrm>
          <a:prstGeom prst="rect">
            <a:avLst/>
          </a:prstGeom>
          <a:noFill/>
        </p:spPr>
        <p:txBody>
          <a:bodyPr wrap="none" lIns="0" rIns="0" tIns="0" bIns="0" anchor="t">
            <a:spAutoFit/>
          </a:bodyPr>
          <a:lstStyle/>
          <a:p>
            <a:pPr algn="l"/>
            <a:r>
              <a:rPr sz="1000" b="1">
                <a:solidFill>
                  <a:srgbClr val="3B82F6"/>
                </a:solidFill>
                <a:latin typeface="Aptos Display"/>
              </a:rPr>
              <a:t>M</a:t>
            </a:r>
            <a:r>
              <a:rPr sz="1000" b="1">
                <a:solidFill>
                  <a:srgbClr val="FBBF24"/>
                </a:solidFill>
                <a:latin typeface="Aptos Display"/>
              </a:rPr>
              <a:t>e</a:t>
            </a:r>
            <a:r>
              <a:rPr sz="1000" b="1">
                <a:solidFill>
                  <a:srgbClr val="3B82F6"/>
                </a:solidFill>
                <a:latin typeface="Aptos Display"/>
              </a:rPr>
              <a:t>L</a:t>
            </a:r>
            <a:r>
              <a:rPr sz="1000" b="1">
                <a:solidFill>
                  <a:srgbClr val="FBBF24"/>
                </a:solidFill>
                <a:latin typeface="Aptos Display"/>
              </a:rPr>
              <a:t>earn</a:t>
            </a:r>
          </a:p>
        </p:txBody>
      </p:sp>
      <p:sp>
        <p:nvSpPr>
          <p:cNvPr id="64" name="TextBox 63"/>
          <p:cNvSpPr txBox="1"/>
          <p:nvPr/>
        </p:nvSpPr>
        <p:spPr>
          <a:xfrm>
            <a:off x="11119104" y="6519672"/>
            <a:ext cx="438912" cy="182880"/>
          </a:xfrm>
          <a:prstGeom prst="rect">
            <a:avLst/>
          </a:prstGeom>
          <a:noFill/>
        </p:spPr>
        <p:txBody>
          <a:bodyPr wrap="none" lIns="0" rIns="0" tIns="0" bIns="0" anchor="t">
            <a:spAutoFit/>
          </a:bodyPr>
          <a:lstStyle/>
          <a:p>
            <a:pPr algn="r">
              <a:lnSpc>
                <a:spcPct val="100000"/>
              </a:lnSpc>
            </a:pPr>
            <a:r>
              <a:rPr sz="900" b="1">
                <a:solidFill>
                  <a:srgbClr val="6F86A0"/>
                </a:solidFill>
                <a:latin typeface="Aptos"/>
              </a:rPr>
              <a:t>05</a:t>
            </a:r>
          </a:p>
        </p:txBody>
      </p:sp>
      <p:sp>
        <p:nvSpPr>
          <p:cNvPr id="65" name="Rectangle 64"/>
          <p:cNvSpPr/>
          <p:nvPr/>
        </p:nvSpPr>
        <p:spPr>
          <a:xfrm>
            <a:off x="2057400" y="6601968"/>
            <a:ext cx="8732520" cy="16459"/>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057400" y="6601968"/>
            <a:ext cx="7277100" cy="1645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426"/>
        </a:solidFill>
        <a:effectLst/>
      </p:bgPr>
    </p:bg>
    <p:spTree>
      <p:nvGrpSpPr>
        <p:cNvPr id="1" name=""/>
        <p:cNvGrpSpPr/>
        <p:nvPr/>
      </p:nvGrpSpPr>
      <p:grpSpPr/>
      <p:sp>
        <p:nvSpPr>
          <p:cNvPr id="2" name="TextBox 1"/>
          <p:cNvSpPr txBox="1"/>
          <p:nvPr/>
        </p:nvSpPr>
        <p:spPr>
          <a:xfrm>
            <a:off x="621792" y="438912"/>
            <a:ext cx="10972800" cy="530352"/>
          </a:xfrm>
          <a:prstGeom prst="rect">
            <a:avLst/>
          </a:prstGeom>
          <a:noFill/>
        </p:spPr>
        <p:txBody>
          <a:bodyPr wrap="none" lIns="0" rIns="0" tIns="0" bIns="0" anchor="t">
            <a:spAutoFit/>
          </a:bodyPr>
          <a:lstStyle/>
          <a:p>
            <a:pPr algn="l">
              <a:lnSpc>
                <a:spcPct val="100000"/>
              </a:lnSpc>
            </a:pPr>
            <a:r>
              <a:rPr sz="2700" b="1">
                <a:solidFill>
                  <a:srgbClr val="F8FAFC"/>
                </a:solidFill>
                <a:latin typeface="Aptos Display"/>
              </a:rPr>
              <a:t>About 10× the overlap. About 10× the gain.</a:t>
            </a:r>
          </a:p>
        </p:txBody>
      </p:sp>
      <p:sp>
        <p:nvSpPr>
          <p:cNvPr id="3" name="TextBox 2"/>
          <p:cNvSpPr txBox="1"/>
          <p:nvPr/>
        </p:nvSpPr>
        <p:spPr>
          <a:xfrm>
            <a:off x="640080" y="1005840"/>
            <a:ext cx="10881360" cy="384048"/>
          </a:xfrm>
          <a:prstGeom prst="rect">
            <a:avLst/>
          </a:prstGeom>
          <a:noFill/>
        </p:spPr>
        <p:txBody>
          <a:bodyPr wrap="none" lIns="0" rIns="0" tIns="0" bIns="0" anchor="t">
            <a:spAutoFit/>
          </a:bodyPr>
          <a:lstStyle/>
          <a:p>
            <a:pPr algn="l">
              <a:lnSpc>
                <a:spcPct val="100000"/>
              </a:lnSpc>
            </a:pPr>
            <a:r>
              <a:rPr sz="1200" b="0">
                <a:solidFill>
                  <a:srgbClr val="A9B8C9"/>
                </a:solidFill>
                <a:latin typeface="Aptos"/>
              </a:rPr>
              <a:t>The same agent and harness exposed where the recommendation signal can—and cannot—transfer.</a:t>
            </a:r>
          </a:p>
        </p:txBody>
      </p:sp>
      <p:sp>
        <p:nvSpPr>
          <p:cNvPr id="4" name="Rounded Rectangle 3"/>
          <p:cNvSpPr/>
          <p:nvPr/>
        </p:nvSpPr>
        <p:spPr>
          <a:xfrm>
            <a:off x="621792" y="1572768"/>
            <a:ext cx="5120640" cy="2432304"/>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47088"/>
            <a:ext cx="4553712" cy="201168"/>
          </a:xfrm>
          <a:prstGeom prst="rect">
            <a:avLst/>
          </a:prstGeom>
          <a:noFill/>
        </p:spPr>
        <p:txBody>
          <a:bodyPr wrap="none" lIns="0" rIns="0" tIns="0" bIns="0" anchor="t">
            <a:spAutoFit/>
          </a:bodyPr>
          <a:lstStyle/>
          <a:p>
            <a:pPr algn="l">
              <a:lnSpc>
                <a:spcPct val="100000"/>
              </a:lnSpc>
            </a:pPr>
            <a:r>
              <a:rPr sz="900" b="1">
                <a:solidFill>
                  <a:srgbClr val="3B82F6"/>
                </a:solidFill>
                <a:latin typeface="Aptos"/>
              </a:rPr>
              <a:t>SEEN USER–CREATOR PAIRS</a:t>
            </a:r>
          </a:p>
        </p:txBody>
      </p:sp>
      <p:sp>
        <p:nvSpPr>
          <p:cNvPr id="6" name="TextBox 5"/>
          <p:cNvSpPr txBox="1"/>
          <p:nvPr/>
        </p:nvSpPr>
        <p:spPr>
          <a:xfrm>
            <a:off x="896112" y="2148840"/>
            <a:ext cx="4553712" cy="292608"/>
          </a:xfrm>
          <a:prstGeom prst="rect">
            <a:avLst/>
          </a:prstGeom>
          <a:noFill/>
        </p:spPr>
        <p:txBody>
          <a:bodyPr wrap="none" lIns="0" rIns="0" tIns="0" bIns="0" anchor="t">
            <a:spAutoFit/>
          </a:bodyPr>
          <a:lstStyle/>
          <a:p>
            <a:pPr algn="l">
              <a:lnSpc>
                <a:spcPct val="100000"/>
              </a:lnSpc>
            </a:pPr>
            <a:r>
              <a:rPr sz="1600" b="1">
                <a:solidFill>
                  <a:srgbClr val="F8FAFC"/>
                </a:solidFill>
                <a:latin typeface="Aptos Display"/>
              </a:rPr>
              <a:t>Transferable interaction history</a:t>
            </a:r>
          </a:p>
        </p:txBody>
      </p:sp>
      <p:sp>
        <p:nvSpPr>
          <p:cNvPr id="7" name="TextBox 6"/>
          <p:cNvSpPr txBox="1"/>
          <p:nvPr/>
        </p:nvSpPr>
        <p:spPr>
          <a:xfrm>
            <a:off x="896112" y="2761488"/>
            <a:ext cx="566928" cy="182880"/>
          </a:xfrm>
          <a:prstGeom prst="rect">
            <a:avLst/>
          </a:prstGeom>
          <a:noFill/>
        </p:spPr>
        <p:txBody>
          <a:bodyPr wrap="none" lIns="0" rIns="0" tIns="0" bIns="0" anchor="t">
            <a:spAutoFit/>
          </a:bodyPr>
          <a:lstStyle/>
          <a:p>
            <a:pPr algn="l">
              <a:lnSpc>
                <a:spcPct val="100000"/>
              </a:lnSpc>
            </a:pPr>
            <a:r>
              <a:rPr sz="900" b="1">
                <a:solidFill>
                  <a:srgbClr val="A9B8C9"/>
                </a:solidFill>
                <a:latin typeface="Aptos"/>
              </a:rPr>
              <a:t>Pure</a:t>
            </a:r>
          </a:p>
        </p:txBody>
      </p:sp>
      <p:sp>
        <p:nvSpPr>
          <p:cNvPr id="8" name="Rounded Rectangle 7"/>
          <p:cNvSpPr/>
          <p:nvPr/>
        </p:nvSpPr>
        <p:spPr>
          <a:xfrm>
            <a:off x="1554480" y="2788920"/>
            <a:ext cx="2980944" cy="16459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0" y="2788920"/>
            <a:ext cx="298978" cy="164592"/>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734056"/>
            <a:ext cx="786384" cy="219456"/>
          </a:xfrm>
          <a:prstGeom prst="rect">
            <a:avLst/>
          </a:prstGeom>
          <a:noFill/>
        </p:spPr>
        <p:txBody>
          <a:bodyPr wrap="none" lIns="0" rIns="0" tIns="0" bIns="0" anchor="t">
            <a:spAutoFit/>
          </a:bodyPr>
          <a:lstStyle/>
          <a:p>
            <a:pPr algn="r">
              <a:lnSpc>
                <a:spcPct val="100000"/>
              </a:lnSpc>
            </a:pPr>
            <a:r>
              <a:rPr sz="1100" b="1">
                <a:solidFill>
                  <a:srgbClr val="3B82F6"/>
                </a:solidFill>
                <a:latin typeface="Aptos Display"/>
              </a:rPr>
              <a:t>3.38%</a:t>
            </a:r>
          </a:p>
        </p:txBody>
      </p:sp>
      <p:sp>
        <p:nvSpPr>
          <p:cNvPr id="11" name="TextBox 10"/>
          <p:cNvSpPr txBox="1"/>
          <p:nvPr/>
        </p:nvSpPr>
        <p:spPr>
          <a:xfrm>
            <a:off x="896112" y="3255264"/>
            <a:ext cx="566928" cy="182880"/>
          </a:xfrm>
          <a:prstGeom prst="rect">
            <a:avLst/>
          </a:prstGeom>
          <a:noFill/>
        </p:spPr>
        <p:txBody>
          <a:bodyPr wrap="none" lIns="0" rIns="0" tIns="0" bIns="0" anchor="t">
            <a:spAutoFit/>
          </a:bodyPr>
          <a:lstStyle/>
          <a:p>
            <a:pPr algn="l">
              <a:lnSpc>
                <a:spcPct val="100000"/>
              </a:lnSpc>
            </a:pPr>
            <a:r>
              <a:rPr sz="900" b="1">
                <a:solidFill>
                  <a:srgbClr val="A9B8C9"/>
                </a:solidFill>
                <a:latin typeface="Aptos"/>
              </a:rPr>
              <a:t>1K</a:t>
            </a:r>
          </a:p>
        </p:txBody>
      </p:sp>
      <p:sp>
        <p:nvSpPr>
          <p:cNvPr id="12" name="Rounded Rectangle 11"/>
          <p:cNvSpPr/>
          <p:nvPr/>
        </p:nvSpPr>
        <p:spPr>
          <a:xfrm>
            <a:off x="1554480" y="3282696"/>
            <a:ext cx="2980944" cy="16459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0" y="3282696"/>
            <a:ext cx="2980944" cy="164592"/>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3227832"/>
            <a:ext cx="786384" cy="219456"/>
          </a:xfrm>
          <a:prstGeom prst="rect">
            <a:avLst/>
          </a:prstGeom>
          <a:noFill/>
        </p:spPr>
        <p:txBody>
          <a:bodyPr wrap="none" lIns="0" rIns="0" tIns="0" bIns="0" anchor="t">
            <a:spAutoFit/>
          </a:bodyPr>
          <a:lstStyle/>
          <a:p>
            <a:pPr algn="r">
              <a:lnSpc>
                <a:spcPct val="100000"/>
              </a:lnSpc>
            </a:pPr>
            <a:r>
              <a:rPr sz="1100" b="1">
                <a:solidFill>
                  <a:srgbClr val="FBBF24"/>
                </a:solidFill>
                <a:latin typeface="Aptos Display"/>
              </a:rPr>
              <a:t>33.70%</a:t>
            </a:r>
          </a:p>
        </p:txBody>
      </p:sp>
      <p:sp>
        <p:nvSpPr>
          <p:cNvPr id="15" name="Rounded Rectangle 14"/>
          <p:cNvSpPr/>
          <p:nvPr/>
        </p:nvSpPr>
        <p:spPr>
          <a:xfrm>
            <a:off x="6428232" y="1572768"/>
            <a:ext cx="5120640" cy="2432304"/>
          </a:xfrm>
          <a:prstGeom prst="roundRect">
            <a:avLst/>
          </a:prstGeom>
          <a:solidFill>
            <a:srgbClr val="102A46"/>
          </a:solidFill>
          <a:ln w="12700">
            <a:solidFill>
              <a:srgbClr val="163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1847088"/>
            <a:ext cx="4553712" cy="201168"/>
          </a:xfrm>
          <a:prstGeom prst="rect">
            <a:avLst/>
          </a:prstGeom>
          <a:noFill/>
        </p:spPr>
        <p:txBody>
          <a:bodyPr wrap="none" lIns="0" rIns="0" tIns="0" bIns="0" anchor="t">
            <a:spAutoFit/>
          </a:bodyPr>
          <a:lstStyle/>
          <a:p>
            <a:pPr algn="l">
              <a:lnSpc>
                <a:spcPct val="100000"/>
              </a:lnSpc>
            </a:pPr>
            <a:r>
              <a:rPr sz="900" b="1">
                <a:solidFill>
                  <a:srgbClr val="FBBF24"/>
                </a:solidFill>
                <a:latin typeface="Aptos"/>
              </a:rPr>
              <a:t>PRIMARY SCORE DELTA</a:t>
            </a:r>
          </a:p>
        </p:txBody>
      </p:sp>
      <p:sp>
        <p:nvSpPr>
          <p:cNvPr id="17" name="TextBox 16"/>
          <p:cNvSpPr txBox="1"/>
          <p:nvPr/>
        </p:nvSpPr>
        <p:spPr>
          <a:xfrm>
            <a:off x="6702552" y="2148840"/>
            <a:ext cx="4553712" cy="292608"/>
          </a:xfrm>
          <a:prstGeom prst="rect">
            <a:avLst/>
          </a:prstGeom>
          <a:noFill/>
        </p:spPr>
        <p:txBody>
          <a:bodyPr wrap="none" lIns="0" rIns="0" tIns="0" bIns="0" anchor="t">
            <a:spAutoFit/>
          </a:bodyPr>
          <a:lstStyle/>
          <a:p>
            <a:pPr algn="l">
              <a:lnSpc>
                <a:spcPct val="100000"/>
              </a:lnSpc>
            </a:pPr>
            <a:r>
              <a:rPr sz="1600" b="1">
                <a:solidFill>
                  <a:srgbClr val="F8FAFC"/>
                </a:solidFill>
                <a:latin typeface="Aptos Display"/>
              </a:rPr>
              <a:t>Improvement over each baseline</a:t>
            </a:r>
          </a:p>
        </p:txBody>
      </p:sp>
      <p:sp>
        <p:nvSpPr>
          <p:cNvPr id="18" name="TextBox 17"/>
          <p:cNvSpPr txBox="1"/>
          <p:nvPr/>
        </p:nvSpPr>
        <p:spPr>
          <a:xfrm>
            <a:off x="6702552" y="2761488"/>
            <a:ext cx="566928" cy="182880"/>
          </a:xfrm>
          <a:prstGeom prst="rect">
            <a:avLst/>
          </a:prstGeom>
          <a:noFill/>
        </p:spPr>
        <p:txBody>
          <a:bodyPr wrap="none" lIns="0" rIns="0" tIns="0" bIns="0" anchor="t">
            <a:spAutoFit/>
          </a:bodyPr>
          <a:lstStyle/>
          <a:p>
            <a:pPr algn="l">
              <a:lnSpc>
                <a:spcPct val="100000"/>
              </a:lnSpc>
            </a:pPr>
            <a:r>
              <a:rPr sz="900" b="1">
                <a:solidFill>
                  <a:srgbClr val="A9B8C9"/>
                </a:solidFill>
                <a:latin typeface="Aptos"/>
              </a:rPr>
              <a:t>Pure</a:t>
            </a:r>
          </a:p>
        </p:txBody>
      </p:sp>
      <p:sp>
        <p:nvSpPr>
          <p:cNvPr id="19" name="Rounded Rectangle 18"/>
          <p:cNvSpPr/>
          <p:nvPr/>
        </p:nvSpPr>
        <p:spPr>
          <a:xfrm>
            <a:off x="7360920" y="2788920"/>
            <a:ext cx="2980944" cy="16459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60920" y="2788920"/>
            <a:ext cx="310256" cy="164592"/>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69880" y="2734056"/>
            <a:ext cx="786384" cy="219456"/>
          </a:xfrm>
          <a:prstGeom prst="rect">
            <a:avLst/>
          </a:prstGeom>
          <a:noFill/>
        </p:spPr>
        <p:txBody>
          <a:bodyPr wrap="none" lIns="0" rIns="0" tIns="0" bIns="0" anchor="t">
            <a:spAutoFit/>
          </a:bodyPr>
          <a:lstStyle/>
          <a:p>
            <a:pPr algn="r">
              <a:lnSpc>
                <a:spcPct val="100000"/>
              </a:lnSpc>
            </a:pPr>
            <a:r>
              <a:rPr sz="1100" b="1">
                <a:solidFill>
                  <a:srgbClr val="3B82F6"/>
                </a:solidFill>
                <a:latin typeface="Aptos Display"/>
              </a:rPr>
              <a:t>+.0039</a:t>
            </a:r>
          </a:p>
        </p:txBody>
      </p:sp>
      <p:sp>
        <p:nvSpPr>
          <p:cNvPr id="22" name="TextBox 21"/>
          <p:cNvSpPr txBox="1"/>
          <p:nvPr/>
        </p:nvSpPr>
        <p:spPr>
          <a:xfrm>
            <a:off x="6702552" y="3255264"/>
            <a:ext cx="566928" cy="182880"/>
          </a:xfrm>
          <a:prstGeom prst="rect">
            <a:avLst/>
          </a:prstGeom>
          <a:noFill/>
        </p:spPr>
        <p:txBody>
          <a:bodyPr wrap="none" lIns="0" rIns="0" tIns="0" bIns="0" anchor="t">
            <a:spAutoFit/>
          </a:bodyPr>
          <a:lstStyle/>
          <a:p>
            <a:pPr algn="l">
              <a:lnSpc>
                <a:spcPct val="100000"/>
              </a:lnSpc>
            </a:pPr>
            <a:r>
              <a:rPr sz="900" b="1">
                <a:solidFill>
                  <a:srgbClr val="A9B8C9"/>
                </a:solidFill>
                <a:latin typeface="Aptos"/>
              </a:rPr>
              <a:t>1K</a:t>
            </a:r>
          </a:p>
        </p:txBody>
      </p:sp>
      <p:sp>
        <p:nvSpPr>
          <p:cNvPr id="23" name="Rounded Rectangle 22"/>
          <p:cNvSpPr/>
          <p:nvPr/>
        </p:nvSpPr>
        <p:spPr>
          <a:xfrm>
            <a:off x="7360920" y="3282696"/>
            <a:ext cx="2980944" cy="164592"/>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0920" y="3282696"/>
            <a:ext cx="2980944" cy="164592"/>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69880" y="3227832"/>
            <a:ext cx="786384" cy="219456"/>
          </a:xfrm>
          <a:prstGeom prst="rect">
            <a:avLst/>
          </a:prstGeom>
          <a:noFill/>
        </p:spPr>
        <p:txBody>
          <a:bodyPr wrap="none" lIns="0" rIns="0" tIns="0" bIns="0" anchor="t">
            <a:spAutoFit/>
          </a:bodyPr>
          <a:lstStyle/>
          <a:p>
            <a:pPr algn="r">
              <a:lnSpc>
                <a:spcPct val="100000"/>
              </a:lnSpc>
            </a:pPr>
            <a:r>
              <a:rPr sz="1100" b="1">
                <a:solidFill>
                  <a:srgbClr val="FBBF24"/>
                </a:solidFill>
                <a:latin typeface="Aptos Display"/>
              </a:rPr>
              <a:t>+.0379</a:t>
            </a:r>
          </a:p>
        </p:txBody>
      </p:sp>
      <p:sp>
        <p:nvSpPr>
          <p:cNvPr id="26" name="TextBox 25"/>
          <p:cNvSpPr txBox="1"/>
          <p:nvPr/>
        </p:nvSpPr>
        <p:spPr>
          <a:xfrm>
            <a:off x="5843016" y="2670048"/>
            <a:ext cx="493776" cy="274320"/>
          </a:xfrm>
          <a:prstGeom prst="rect">
            <a:avLst/>
          </a:prstGeom>
          <a:noFill/>
        </p:spPr>
        <p:txBody>
          <a:bodyPr wrap="none" lIns="0" rIns="0" tIns="0" bIns="0" anchor="t">
            <a:spAutoFit/>
          </a:bodyPr>
          <a:lstStyle/>
          <a:p>
            <a:pPr algn="ctr">
              <a:lnSpc>
                <a:spcPct val="100000"/>
              </a:lnSpc>
            </a:pPr>
            <a:r>
              <a:rPr sz="1800" b="1">
                <a:solidFill>
                  <a:srgbClr val="A9B8C9"/>
                </a:solidFill>
                <a:latin typeface="Aptos Display"/>
              </a:rPr>
              <a:t>≈</a:t>
            </a:r>
          </a:p>
        </p:txBody>
      </p:sp>
      <p:sp>
        <p:nvSpPr>
          <p:cNvPr id="27" name="TextBox 26"/>
          <p:cNvSpPr txBox="1"/>
          <p:nvPr/>
        </p:nvSpPr>
        <p:spPr>
          <a:xfrm>
            <a:off x="5769864" y="2999232"/>
            <a:ext cx="640080" cy="310896"/>
          </a:xfrm>
          <a:prstGeom prst="rect">
            <a:avLst/>
          </a:prstGeom>
          <a:noFill/>
        </p:spPr>
        <p:txBody>
          <a:bodyPr wrap="none" lIns="0" rIns="0" tIns="0" bIns="0" anchor="t">
            <a:spAutoFit/>
          </a:bodyPr>
          <a:lstStyle/>
          <a:p>
            <a:pPr algn="ctr">
              <a:lnSpc>
                <a:spcPct val="100000"/>
              </a:lnSpc>
            </a:pPr>
            <a:r>
              <a:rPr sz="1500" b="1">
                <a:solidFill>
                  <a:srgbClr val="FBBF24"/>
                </a:solidFill>
                <a:latin typeface="Aptos Display"/>
              </a:rPr>
              <a:t>10×</a:t>
            </a:r>
          </a:p>
        </p:txBody>
      </p:sp>
      <p:sp>
        <p:nvSpPr>
          <p:cNvPr id="28" name="Rounded Rectangle 27"/>
          <p:cNvSpPr/>
          <p:nvPr/>
        </p:nvSpPr>
        <p:spPr>
          <a:xfrm>
            <a:off x="621792" y="4416552"/>
            <a:ext cx="10927080" cy="1335024"/>
          </a:xfrm>
          <a:prstGeom prst="round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4709160"/>
            <a:ext cx="10378440" cy="329184"/>
          </a:xfrm>
          <a:prstGeom prst="rect">
            <a:avLst/>
          </a:prstGeom>
          <a:noFill/>
        </p:spPr>
        <p:txBody>
          <a:bodyPr wrap="none" lIns="0" rIns="0" tIns="0" bIns="0" anchor="t">
            <a:spAutoFit/>
          </a:bodyPr>
          <a:lstStyle/>
          <a:p>
            <a:pPr algn="ctr">
              <a:lnSpc>
                <a:spcPct val="100000"/>
              </a:lnSpc>
            </a:pPr>
            <a:r>
              <a:rPr sz="2000" b="1">
                <a:solidFill>
                  <a:srgbClr val="F8FAFC"/>
                </a:solidFill>
                <a:latin typeface="Aptos Display"/>
              </a:rPr>
              <a:t>MeLearn did not just find a better model.</a:t>
            </a:r>
          </a:p>
        </p:txBody>
      </p:sp>
      <p:sp>
        <p:nvSpPr>
          <p:cNvPr id="30" name="TextBox 29"/>
          <p:cNvSpPr txBox="1"/>
          <p:nvPr/>
        </p:nvSpPr>
        <p:spPr>
          <a:xfrm>
            <a:off x="896112" y="5129784"/>
            <a:ext cx="10378440" cy="347472"/>
          </a:xfrm>
          <a:prstGeom prst="rect">
            <a:avLst/>
          </a:prstGeom>
          <a:noFill/>
        </p:spPr>
        <p:txBody>
          <a:bodyPr wrap="none" lIns="0" rIns="0" tIns="0" bIns="0" anchor="t">
            <a:spAutoFit/>
          </a:bodyPr>
          <a:lstStyle/>
          <a:p>
            <a:pPr algn="ctr">
              <a:lnSpc>
                <a:spcPct val="100000"/>
              </a:lnSpc>
            </a:pPr>
            <a:r>
              <a:rPr sz="2100" b="1">
                <a:solidFill>
                  <a:srgbClr val="FBBF24"/>
                </a:solidFill>
                <a:latin typeface="Aptos Display"/>
              </a:rPr>
              <a:t>It found where the learnable signal lives.</a:t>
            </a:r>
          </a:p>
        </p:txBody>
      </p:sp>
      <p:sp>
        <p:nvSpPr>
          <p:cNvPr id="31" name="TextBox 30"/>
          <p:cNvSpPr txBox="1"/>
          <p:nvPr/>
        </p:nvSpPr>
        <p:spPr>
          <a:xfrm>
            <a:off x="621792" y="6126480"/>
            <a:ext cx="2194560" cy="320040"/>
          </a:xfrm>
          <a:prstGeom prst="rect">
            <a:avLst/>
          </a:prstGeom>
          <a:noFill/>
        </p:spPr>
        <p:txBody>
          <a:bodyPr wrap="none" lIns="0" rIns="0" tIns="0" bIns="0" anchor="t">
            <a:spAutoFit/>
          </a:bodyPr>
          <a:lstStyle/>
          <a:p>
            <a:pPr algn="l"/>
            <a:r>
              <a:rPr sz="1700" b="1">
                <a:solidFill>
                  <a:srgbClr val="3B82F6"/>
                </a:solidFill>
                <a:latin typeface="Aptos Display"/>
              </a:rPr>
              <a:t>M</a:t>
            </a:r>
            <a:r>
              <a:rPr sz="1700" b="1">
                <a:solidFill>
                  <a:srgbClr val="FBBF24"/>
                </a:solidFill>
                <a:latin typeface="Aptos Display"/>
              </a:rPr>
              <a:t>e</a:t>
            </a:r>
            <a:r>
              <a:rPr sz="1700" b="1">
                <a:solidFill>
                  <a:srgbClr val="3B82F6"/>
                </a:solidFill>
                <a:latin typeface="Aptos Display"/>
              </a:rPr>
              <a:t>L</a:t>
            </a:r>
            <a:r>
              <a:rPr sz="1700" b="1">
                <a:solidFill>
                  <a:srgbClr val="FBBF24"/>
                </a:solidFill>
                <a:latin typeface="Aptos Display"/>
              </a:rPr>
              <a:t>earn</a:t>
            </a:r>
          </a:p>
        </p:txBody>
      </p:sp>
      <p:sp>
        <p:nvSpPr>
          <p:cNvPr id="32" name="TextBox 31"/>
          <p:cNvSpPr txBox="1"/>
          <p:nvPr/>
        </p:nvSpPr>
        <p:spPr>
          <a:xfrm>
            <a:off x="2779776" y="6172200"/>
            <a:ext cx="3931920" cy="182880"/>
          </a:xfrm>
          <a:prstGeom prst="rect">
            <a:avLst/>
          </a:prstGeom>
          <a:noFill/>
        </p:spPr>
        <p:txBody>
          <a:bodyPr wrap="none" lIns="0" rIns="0" tIns="0" bIns="0" anchor="t">
            <a:spAutoFit/>
          </a:bodyPr>
          <a:lstStyle/>
          <a:p>
            <a:pPr algn="l">
              <a:lnSpc>
                <a:spcPct val="100000"/>
              </a:lnSpc>
            </a:pPr>
            <a:r>
              <a:rPr sz="900" b="1">
                <a:solidFill>
                  <a:srgbClr val="A9B8C9"/>
                </a:solidFill>
                <a:latin typeface="Aptos"/>
              </a:rPr>
              <a:t>Measures · learns · recovers</a:t>
            </a:r>
          </a:p>
        </p:txBody>
      </p:sp>
      <p:sp>
        <p:nvSpPr>
          <p:cNvPr id="33" name="TextBox 32"/>
          <p:cNvSpPr txBox="1"/>
          <p:nvPr/>
        </p:nvSpPr>
        <p:spPr>
          <a:xfrm>
            <a:off x="7498079" y="6153912"/>
            <a:ext cx="4041648" cy="182880"/>
          </a:xfrm>
          <a:prstGeom prst="rect">
            <a:avLst/>
          </a:prstGeom>
          <a:noFill/>
        </p:spPr>
        <p:txBody>
          <a:bodyPr wrap="none" lIns="0" rIns="0" tIns="0" bIns="0" anchor="t">
            <a:spAutoFit/>
          </a:bodyPr>
          <a:lstStyle/>
          <a:p>
            <a:pPr algn="r">
              <a:lnSpc>
                <a:spcPct val="100000"/>
              </a:lnSpc>
            </a:pPr>
            <a:r>
              <a:rPr sz="850" b="1">
                <a:solidFill>
                  <a:srgbClr val="6F86A0"/>
                </a:solidFill>
                <a:latin typeface="Aptos"/>
              </a:rPr>
              <a:t>AUTONOMOUS RECOMMENDER RESEARCH</a:t>
            </a:r>
          </a:p>
        </p:txBody>
      </p:sp>
      <p:sp>
        <p:nvSpPr>
          <p:cNvPr id="34" name="TextBox 33"/>
          <p:cNvSpPr txBox="1"/>
          <p:nvPr/>
        </p:nvSpPr>
        <p:spPr>
          <a:xfrm>
            <a:off x="621792" y="6528816"/>
            <a:ext cx="1463040" cy="201168"/>
          </a:xfrm>
          <a:prstGeom prst="rect">
            <a:avLst/>
          </a:prstGeom>
          <a:noFill/>
        </p:spPr>
        <p:txBody>
          <a:bodyPr wrap="none" lIns="0" rIns="0" tIns="0" bIns="0" anchor="t">
            <a:spAutoFit/>
          </a:bodyPr>
          <a:lstStyle/>
          <a:p>
            <a:pPr algn="l"/>
            <a:r>
              <a:rPr sz="1000" b="1">
                <a:solidFill>
                  <a:srgbClr val="3B82F6"/>
                </a:solidFill>
                <a:latin typeface="Aptos Display"/>
              </a:rPr>
              <a:t>M</a:t>
            </a:r>
            <a:r>
              <a:rPr sz="1000" b="1">
                <a:solidFill>
                  <a:srgbClr val="FBBF24"/>
                </a:solidFill>
                <a:latin typeface="Aptos Display"/>
              </a:rPr>
              <a:t>e</a:t>
            </a:r>
            <a:r>
              <a:rPr sz="1000" b="1">
                <a:solidFill>
                  <a:srgbClr val="3B82F6"/>
                </a:solidFill>
                <a:latin typeface="Aptos Display"/>
              </a:rPr>
              <a:t>L</a:t>
            </a:r>
            <a:r>
              <a:rPr sz="1000" b="1">
                <a:solidFill>
                  <a:srgbClr val="FBBF24"/>
                </a:solidFill>
                <a:latin typeface="Aptos Display"/>
              </a:rPr>
              <a:t>earn</a:t>
            </a:r>
          </a:p>
        </p:txBody>
      </p:sp>
      <p:sp>
        <p:nvSpPr>
          <p:cNvPr id="35" name="TextBox 34"/>
          <p:cNvSpPr txBox="1"/>
          <p:nvPr/>
        </p:nvSpPr>
        <p:spPr>
          <a:xfrm>
            <a:off x="11119104" y="6519672"/>
            <a:ext cx="438912" cy="182880"/>
          </a:xfrm>
          <a:prstGeom prst="rect">
            <a:avLst/>
          </a:prstGeom>
          <a:noFill/>
        </p:spPr>
        <p:txBody>
          <a:bodyPr wrap="none" lIns="0" rIns="0" tIns="0" bIns="0" anchor="t">
            <a:spAutoFit/>
          </a:bodyPr>
          <a:lstStyle/>
          <a:p>
            <a:pPr algn="r">
              <a:lnSpc>
                <a:spcPct val="100000"/>
              </a:lnSpc>
            </a:pPr>
            <a:r>
              <a:rPr sz="900" b="1">
                <a:solidFill>
                  <a:srgbClr val="6F86A0"/>
                </a:solidFill>
                <a:latin typeface="Aptos"/>
              </a:rPr>
              <a:t>06</a:t>
            </a:r>
          </a:p>
        </p:txBody>
      </p:sp>
      <p:sp>
        <p:nvSpPr>
          <p:cNvPr id="36" name="Rectangle 35"/>
          <p:cNvSpPr/>
          <p:nvPr/>
        </p:nvSpPr>
        <p:spPr>
          <a:xfrm>
            <a:off x="2057400" y="6601968"/>
            <a:ext cx="8732520" cy="16459"/>
          </a:xfrm>
          <a:prstGeom prst="rect">
            <a:avLst/>
          </a:prstGeom>
          <a:solidFill>
            <a:srgbClr val="163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57400" y="6601968"/>
            <a:ext cx="8732520" cy="1645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MeLearn — Three-Minute Demo Deck</dc:title>
  <dc:subject>TikTok TechJam 2026 autonomous recommender research agent</dc:subject>
  <dc:creator>MeLearn team</dc:creator>
  <cp:keywords>MeLearn, autonomous agent, recommendation, KuaiRand, TechJam</cp:keywords>
  <dc:description>Generated from editable native PowerPoint shapes.</dc:description>
  <cp:lastModifiedBy>Steve Canny</cp:lastModifiedBy>
  <cp:revision>1</cp:revision>
  <dcterms:created xsi:type="dcterms:W3CDTF">2013-01-27T09:14:16Z</dcterms:created>
  <dcterms:modified xsi:type="dcterms:W3CDTF">2013-01-27T09:15:58Z</dcterms:modified>
  <cp:category/>
</cp:coreProperties>
</file>